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rgb.png"/>
          <p:cNvPicPr>
            <a:picLocks noChangeAspect="1"/>
          </p:cNvPicPr>
          <p:nvPr/>
        </p:nvPicPr>
        <p:blipFill>
          <a:blip r:embed="rId2"/>
          <a:stretch>
            <a:fillRect/>
          </a:stretch>
        </p:blipFill>
        <p:spPr>
          <a:xfrm>
            <a:off x="822960" y="640080"/>
            <a:ext cx="2194560" cy="361005"/>
          </a:xfrm>
          <a:prstGeom prst="rect">
            <a:avLst/>
          </a:prstGeom>
        </p:spPr>
      </p:pic>
      <p:sp>
        <p:nvSpPr>
          <p:cNvPr id="5" name="TextBox 4"/>
          <p:cNvSpPr txBox="1"/>
          <p:nvPr/>
        </p:nvSpPr>
        <p:spPr>
          <a:xfrm>
            <a:off x="822960" y="3108960"/>
            <a:ext cx="10058400" cy="457200"/>
          </a:xfrm>
          <a:prstGeom prst="rect">
            <a:avLst/>
          </a:prstGeom>
          <a:noFill/>
        </p:spPr>
        <p:txBody>
          <a:bodyPr wrap="square" lIns="0" rIns="0" tIns="0" bIns="0">
            <a:spAutoFit/>
          </a:bodyPr>
          <a:lstStyle/>
          <a:p>
            <a:pPr algn="l"/>
            <a:r>
              <a:rPr sz="1400" b="1" i="0">
                <a:solidFill>
                  <a:srgbClr val="A3D55D"/>
                </a:solidFill>
                <a:latin typeface="Gill Sans MT Pro"/>
              </a:rPr>
              <a:t>INVESTMENT OPPORTUNITY</a:t>
            </a:r>
          </a:p>
        </p:txBody>
      </p:sp>
      <p:sp>
        <p:nvSpPr>
          <p:cNvPr id="6" name="TextBox 5"/>
          <p:cNvSpPr txBox="1"/>
          <p:nvPr/>
        </p:nvSpPr>
        <p:spPr>
          <a:xfrm>
            <a:off x="822960" y="3566160"/>
            <a:ext cx="10058400" cy="1463040"/>
          </a:xfrm>
          <a:prstGeom prst="rect">
            <a:avLst/>
          </a:prstGeom>
          <a:noFill/>
        </p:spPr>
        <p:txBody>
          <a:bodyPr wrap="square" lIns="0" rIns="0" tIns="0" bIns="0">
            <a:spAutoFit/>
          </a:bodyPr>
          <a:lstStyle/>
          <a:p>
            <a:pPr algn="l"/>
            <a:r>
              <a:rPr sz="5400" b="1" i="0">
                <a:solidFill>
                  <a:srgbClr val="FFFFFF"/>
                </a:solidFill>
                <a:latin typeface="Gill Sans MT Pro"/>
              </a:rPr>
              <a:t>[Deal Name]</a:t>
            </a:r>
          </a:p>
        </p:txBody>
      </p:sp>
      <p:sp>
        <p:nvSpPr>
          <p:cNvPr id="7" name="TextBox 6"/>
          <p:cNvSpPr txBox="1"/>
          <p:nvPr/>
        </p:nvSpPr>
        <p:spPr>
          <a:xfrm>
            <a:off x="822960" y="4937760"/>
            <a:ext cx="10058400" cy="457200"/>
          </a:xfrm>
          <a:prstGeom prst="rect">
            <a:avLst/>
          </a:prstGeom>
          <a:noFill/>
        </p:spPr>
        <p:txBody>
          <a:bodyPr wrap="square" lIns="0" rIns="0" tIns="0" bIns="0">
            <a:spAutoFit/>
          </a:bodyPr>
          <a:lstStyle/>
          <a:p>
            <a:pPr algn="l"/>
            <a:r>
              <a:rPr sz="1800" b="0" i="0">
                <a:solidFill>
                  <a:srgbClr val="DAF0BC"/>
                </a:solidFill>
                <a:latin typeface="Proxima Nova"/>
              </a:rPr>
              <a:t>[City, State]  ·  [# Units]  ·  [Asset Class]</a:t>
            </a:r>
          </a:p>
        </p:txBody>
      </p:sp>
      <p:sp>
        <p:nvSpPr>
          <p:cNvPr id="8" name="TextBox 7"/>
          <p:cNvSpPr txBox="1"/>
          <p:nvPr/>
        </p:nvSpPr>
        <p:spPr>
          <a:xfrm>
            <a:off x="822960" y="6126480"/>
            <a:ext cx="10058400" cy="365760"/>
          </a:xfrm>
          <a:prstGeom prst="rect">
            <a:avLst/>
          </a:prstGeom>
          <a:noFill/>
        </p:spPr>
        <p:txBody>
          <a:bodyPr wrap="square" lIns="0" rIns="0" tIns="0" bIns="0">
            <a:spAutoFit/>
          </a:bodyPr>
          <a:lstStyle/>
          <a:p>
            <a:pPr algn="l"/>
            <a:r>
              <a:rPr sz="1000" b="0" i="0">
                <a:solidFill>
                  <a:srgbClr val="DAF0BC"/>
                </a:solidFill>
                <a:latin typeface="Proxima Nova"/>
              </a:rPr>
              <a:t>VisionWise Capital  ·  [Date]  ·  Confidential — Accredited Investors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10972800" cy="548640"/>
          </a:xfrm>
          <a:prstGeom prst="rect">
            <a:avLst/>
          </a:prstGeom>
          <a:noFill/>
        </p:spPr>
        <p:txBody>
          <a:bodyPr wrap="square" lIns="0" rIns="0" tIns="0" bIns="0">
            <a:spAutoFit/>
          </a:bodyPr>
          <a:lstStyle/>
          <a:p>
            <a:pPr algn="l"/>
            <a:r>
              <a:rPr sz="2800" b="1" i="0">
                <a:solidFill>
                  <a:srgbClr val="40464B"/>
                </a:solidFill>
                <a:latin typeface="Gill Sans MT Pro"/>
              </a:rPr>
              <a:t>Important Disclosures</a:t>
            </a:r>
          </a:p>
        </p:txBody>
      </p:sp>
      <p:sp>
        <p:nvSpPr>
          <p:cNvPr id="4" name="TextBox 3"/>
          <p:cNvSpPr txBox="1"/>
          <p:nvPr/>
        </p:nvSpPr>
        <p:spPr>
          <a:xfrm>
            <a:off x="548640" y="1371600"/>
            <a:ext cx="10972800" cy="5029200"/>
          </a:xfrm>
          <a:prstGeom prst="rect">
            <a:avLst/>
          </a:prstGeom>
          <a:noFill/>
        </p:spPr>
        <p:txBody>
          <a:bodyPr wrap="square" lIns="0" rIns="0" tIns="0" bIns="0">
            <a:spAutoFit/>
          </a:bodyPr>
          <a:lstStyle/>
          <a:p>
            <a:pPr algn="l"/>
            <a:r>
              <a:rPr sz="1400" b="0" i="0">
                <a:solidFill>
                  <a:srgbClr val="40464B"/>
                </a:solidFill>
                <a:latin typeface="Proxima Nova"/>
              </a:rPr>
              <a:t>This communication is provided for informational purposes only and does not constitute an offer to sell or a solicitation of an offer to buy any securities. Any such offer or solicitation will be made only through definitive offering documents (including a private placement memorandum) provided to qualified investors. Past performance is not indicative of future results. Real estate investments involve risk, including loss of principal.
This presentation contains forward-looking statements based on assumptions and analyses made by VisionWise Capital that we believe are reasonable, but actual results may differ materially. Recipients should consult their own tax, legal, and financial advisors before investing.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097280" cy="73152"/>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972800" cy="365760"/>
          </a:xfrm>
          <a:prstGeom prst="rect">
            <a:avLst/>
          </a:prstGeom>
          <a:noFill/>
        </p:spPr>
        <p:txBody>
          <a:bodyPr wrap="square" lIns="0" rIns="0" tIns="0" bIns="0">
            <a:spAutoFit/>
          </a:bodyPr>
          <a:lstStyle/>
          <a:p>
            <a:pPr algn="l"/>
            <a:r>
              <a:rPr sz="1200" b="1" i="0">
                <a:solidFill>
                  <a:srgbClr val="A3D55D"/>
                </a:solidFill>
                <a:latin typeface="Gill Sans MT Pro"/>
              </a:rPr>
              <a:t>WHO WE ARE</a:t>
            </a:r>
          </a:p>
        </p:txBody>
      </p:sp>
      <p:sp>
        <p:nvSpPr>
          <p:cNvPr id="5" name="TextBox 4"/>
          <p:cNvSpPr txBox="1"/>
          <p:nvPr/>
        </p:nvSpPr>
        <p:spPr>
          <a:xfrm>
            <a:off x="822960" y="3246120"/>
            <a:ext cx="10972800" cy="1097280"/>
          </a:xfrm>
          <a:prstGeom prst="rect">
            <a:avLst/>
          </a:prstGeom>
          <a:noFill/>
        </p:spPr>
        <p:txBody>
          <a:bodyPr wrap="square" lIns="0" rIns="0" tIns="0" bIns="0">
            <a:spAutoFit/>
          </a:bodyPr>
          <a:lstStyle/>
          <a:p>
            <a:pPr algn="l"/>
            <a:r>
              <a:rPr sz="4400" b="1" i="0">
                <a:solidFill>
                  <a:srgbClr val="FFFFFF"/>
                </a:solidFill>
                <a:latin typeface="Gill Sans MT Pro"/>
              </a:rPr>
              <a:t>VisionWise Capital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About VisionWise</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572000"/>
          </a:xfrm>
          <a:prstGeom prst="rect">
            <a:avLst/>
          </a:prstGeom>
          <a:noFill/>
        </p:spPr>
        <p:txBody>
          <a:bodyPr wrap="square" lIns="0" rIns="0" tIns="0" bIns="0">
            <a:spAutoFit/>
          </a:bodyPr>
          <a:lstStyle/>
          <a:p>
            <a:pPr algn="l"/>
            <a:r>
              <a:rPr sz="1800" b="0" i="0">
                <a:solidFill>
                  <a:srgbClr val="40464B"/>
                </a:solidFill>
                <a:latin typeface="Proxima Nova"/>
              </a:rPr>
              <a:t>[2–3 plain sentences on what VWC does, who we serve, and what makes our discipline different. End with the core promise: stewardship, long-term thinking, relationship-first.]
•  Founded by Sanford D. Coggins
•  Southern California focus, multifamily + residential
•  We invest alongside every LP on every deal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Track record</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57200"/>
          </a:xfrm>
          <a:prstGeom prst="rect">
            <a:avLst/>
          </a:prstGeom>
          <a:noFill/>
        </p:spPr>
        <p:txBody>
          <a:bodyPr wrap="square" lIns="0" rIns="0" tIns="0" bIns="0">
            <a:spAutoFit/>
          </a:bodyPr>
          <a:lstStyle/>
          <a:p>
            <a:pPr algn="l"/>
            <a:r>
              <a:rPr sz="1800" b="0" i="0">
                <a:solidFill>
                  <a:srgbClr val="40464B"/>
                </a:solidFill>
                <a:latin typeface="Proxima Nova"/>
              </a:rPr>
              <a:t>[High-level track record line — # deals, total equity, average IRR.]</a:t>
            </a:r>
          </a:p>
        </p:txBody>
      </p:sp>
      <p:sp>
        <p:nvSpPr>
          <p:cNvPr id="8" name="Rectangle 7"/>
          <p:cNvSpPr/>
          <p:nvPr/>
        </p:nvSpPr>
        <p:spPr>
          <a:xfrm>
            <a:off x="548640" y="2377440"/>
            <a:ext cx="2606040" cy="1463040"/>
          </a:xfrm>
          <a:prstGeom prst="rect">
            <a:avLst/>
          </a:prstGeom>
          <a:solidFill>
            <a:srgbClr val="DAF0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560320"/>
            <a:ext cx="2240280" cy="274320"/>
          </a:xfrm>
          <a:prstGeom prst="rect">
            <a:avLst/>
          </a:prstGeom>
          <a:noFill/>
        </p:spPr>
        <p:txBody>
          <a:bodyPr wrap="square" lIns="0" rIns="0" tIns="0" bIns="0">
            <a:spAutoFit/>
          </a:bodyPr>
          <a:lstStyle/>
          <a:p>
            <a:pPr algn="l"/>
            <a:r>
              <a:rPr sz="1000" b="1" i="0">
                <a:solidFill>
                  <a:srgbClr val="5C9627"/>
                </a:solidFill>
                <a:latin typeface="Proxima Nova"/>
              </a:rPr>
              <a:t>DEALS CLOSED</a:t>
            </a:r>
          </a:p>
        </p:txBody>
      </p:sp>
      <p:sp>
        <p:nvSpPr>
          <p:cNvPr id="10" name="TextBox 9"/>
          <p:cNvSpPr txBox="1"/>
          <p:nvPr/>
        </p:nvSpPr>
        <p:spPr>
          <a:xfrm>
            <a:off x="731520" y="2880360"/>
            <a:ext cx="2240280" cy="914400"/>
          </a:xfrm>
          <a:prstGeom prst="rect">
            <a:avLst/>
          </a:prstGeom>
          <a:noFill/>
        </p:spPr>
        <p:txBody>
          <a:bodyPr wrap="square" lIns="0" rIns="0" tIns="0" bIns="0">
            <a:spAutoFit/>
          </a:bodyPr>
          <a:lstStyle/>
          <a:p>
            <a:pPr algn="l"/>
            <a:r>
              <a:rPr sz="3600" b="1" i="0">
                <a:solidFill>
                  <a:srgbClr val="40464B"/>
                </a:solidFill>
                <a:latin typeface="Gill Sans MT Pro"/>
              </a:rPr>
              <a:t>[##]</a:t>
            </a:r>
          </a:p>
        </p:txBody>
      </p:sp>
      <p:sp>
        <p:nvSpPr>
          <p:cNvPr id="11" name="Rectangle 10"/>
          <p:cNvSpPr/>
          <p:nvPr/>
        </p:nvSpPr>
        <p:spPr>
          <a:xfrm>
            <a:off x="3337560" y="2377440"/>
            <a:ext cx="2606040" cy="1463040"/>
          </a:xfrm>
          <a:prstGeom prst="rect">
            <a:avLst/>
          </a:prstGeom>
          <a:solidFill>
            <a:srgbClr val="DAF0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2560320"/>
            <a:ext cx="2240280" cy="274320"/>
          </a:xfrm>
          <a:prstGeom prst="rect">
            <a:avLst/>
          </a:prstGeom>
          <a:noFill/>
        </p:spPr>
        <p:txBody>
          <a:bodyPr wrap="square" lIns="0" rIns="0" tIns="0" bIns="0">
            <a:spAutoFit/>
          </a:bodyPr>
          <a:lstStyle/>
          <a:p>
            <a:pPr algn="l"/>
            <a:r>
              <a:rPr sz="1000" b="1" i="0">
                <a:solidFill>
                  <a:srgbClr val="5C9627"/>
                </a:solidFill>
                <a:latin typeface="Proxima Nova"/>
              </a:rPr>
              <a:t>TOTAL EQUITY</a:t>
            </a:r>
          </a:p>
        </p:txBody>
      </p:sp>
      <p:sp>
        <p:nvSpPr>
          <p:cNvPr id="13" name="TextBox 12"/>
          <p:cNvSpPr txBox="1"/>
          <p:nvPr/>
        </p:nvSpPr>
        <p:spPr>
          <a:xfrm>
            <a:off x="3520440" y="2880360"/>
            <a:ext cx="2240280" cy="914400"/>
          </a:xfrm>
          <a:prstGeom prst="rect">
            <a:avLst/>
          </a:prstGeom>
          <a:noFill/>
        </p:spPr>
        <p:txBody>
          <a:bodyPr wrap="square" lIns="0" rIns="0" tIns="0" bIns="0">
            <a:spAutoFit/>
          </a:bodyPr>
          <a:lstStyle/>
          <a:p>
            <a:pPr algn="l"/>
            <a:r>
              <a:rPr sz="3600" b="1" i="0">
                <a:solidFill>
                  <a:srgbClr val="40464B"/>
                </a:solidFill>
                <a:latin typeface="Gill Sans MT Pro"/>
              </a:rPr>
              <a:t>$[##]M</a:t>
            </a:r>
          </a:p>
        </p:txBody>
      </p:sp>
      <p:sp>
        <p:nvSpPr>
          <p:cNvPr id="14" name="Rectangle 13"/>
          <p:cNvSpPr/>
          <p:nvPr/>
        </p:nvSpPr>
        <p:spPr>
          <a:xfrm>
            <a:off x="6126480" y="2377440"/>
            <a:ext cx="2606040" cy="1463040"/>
          </a:xfrm>
          <a:prstGeom prst="rect">
            <a:avLst/>
          </a:prstGeom>
          <a:solidFill>
            <a:srgbClr val="DAF0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560320"/>
            <a:ext cx="2240280" cy="274320"/>
          </a:xfrm>
          <a:prstGeom prst="rect">
            <a:avLst/>
          </a:prstGeom>
          <a:noFill/>
        </p:spPr>
        <p:txBody>
          <a:bodyPr wrap="square" lIns="0" rIns="0" tIns="0" bIns="0">
            <a:spAutoFit/>
          </a:bodyPr>
          <a:lstStyle/>
          <a:p>
            <a:pPr algn="l"/>
            <a:r>
              <a:rPr sz="1000" b="1" i="0">
                <a:solidFill>
                  <a:srgbClr val="5C9627"/>
                </a:solidFill>
                <a:latin typeface="Proxima Nova"/>
              </a:rPr>
              <a:t>AVG. INVESTOR IRR</a:t>
            </a:r>
          </a:p>
        </p:txBody>
      </p:sp>
      <p:sp>
        <p:nvSpPr>
          <p:cNvPr id="16" name="TextBox 15"/>
          <p:cNvSpPr txBox="1"/>
          <p:nvPr/>
        </p:nvSpPr>
        <p:spPr>
          <a:xfrm>
            <a:off x="6309360" y="2880360"/>
            <a:ext cx="2240280" cy="914400"/>
          </a:xfrm>
          <a:prstGeom prst="rect">
            <a:avLst/>
          </a:prstGeom>
          <a:noFill/>
        </p:spPr>
        <p:txBody>
          <a:bodyPr wrap="square" lIns="0" rIns="0" tIns="0" bIns="0">
            <a:spAutoFit/>
          </a:bodyPr>
          <a:lstStyle/>
          <a:p>
            <a:pPr algn="l"/>
            <a:r>
              <a:rPr sz="3600" b="1" i="0">
                <a:solidFill>
                  <a:srgbClr val="40464B"/>
                </a:solidFill>
                <a:latin typeface="Gill Sans MT Pro"/>
              </a:rPr>
              <a:t>[##]%</a:t>
            </a:r>
          </a:p>
        </p:txBody>
      </p:sp>
      <p:sp>
        <p:nvSpPr>
          <p:cNvPr id="17" name="Rectangle 16"/>
          <p:cNvSpPr/>
          <p:nvPr/>
        </p:nvSpPr>
        <p:spPr>
          <a:xfrm>
            <a:off x="8915400" y="2377440"/>
            <a:ext cx="2606040" cy="1463040"/>
          </a:xfrm>
          <a:prstGeom prst="rect">
            <a:avLst/>
          </a:prstGeom>
          <a:solidFill>
            <a:srgbClr val="DAF0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2560320"/>
            <a:ext cx="2240280" cy="274320"/>
          </a:xfrm>
          <a:prstGeom prst="rect">
            <a:avLst/>
          </a:prstGeom>
          <a:noFill/>
        </p:spPr>
        <p:txBody>
          <a:bodyPr wrap="square" lIns="0" rIns="0" tIns="0" bIns="0">
            <a:spAutoFit/>
          </a:bodyPr>
          <a:lstStyle/>
          <a:p>
            <a:pPr algn="l"/>
            <a:r>
              <a:rPr sz="1000" b="1" i="0">
                <a:solidFill>
                  <a:srgbClr val="5C9627"/>
                </a:solidFill>
                <a:latin typeface="Proxima Nova"/>
              </a:rPr>
              <a:t>AVG. EM</a:t>
            </a:r>
          </a:p>
        </p:txBody>
      </p:sp>
      <p:sp>
        <p:nvSpPr>
          <p:cNvPr id="19" name="TextBox 18"/>
          <p:cNvSpPr txBox="1"/>
          <p:nvPr/>
        </p:nvSpPr>
        <p:spPr>
          <a:xfrm>
            <a:off x="9098280" y="2880360"/>
            <a:ext cx="2240280" cy="914400"/>
          </a:xfrm>
          <a:prstGeom prst="rect">
            <a:avLst/>
          </a:prstGeom>
          <a:noFill/>
        </p:spPr>
        <p:txBody>
          <a:bodyPr wrap="square" lIns="0" rIns="0" tIns="0" bIns="0">
            <a:spAutoFit/>
          </a:bodyPr>
          <a:lstStyle/>
          <a:p>
            <a:pPr algn="l"/>
            <a:r>
              <a:rPr sz="3600" b="1" i="0">
                <a:solidFill>
                  <a:srgbClr val="40464B"/>
                </a:solidFill>
                <a:latin typeface="Gill Sans MT Pro"/>
              </a:rPr>
              <a:t>[#.##]x</a:t>
            </a:r>
          </a:p>
        </p:txBody>
      </p:sp>
      <p:sp>
        <p:nvSpPr>
          <p:cNvPr id="20" name="TextBox 19"/>
          <p:cNvSpPr txBox="1"/>
          <p:nvPr/>
        </p:nvSpPr>
        <p:spPr>
          <a:xfrm>
            <a:off x="548640" y="4114800"/>
            <a:ext cx="10972800" cy="2103120"/>
          </a:xfrm>
          <a:prstGeom prst="rect">
            <a:avLst/>
          </a:prstGeom>
          <a:noFill/>
        </p:spPr>
        <p:txBody>
          <a:bodyPr wrap="square" lIns="0" rIns="0" tIns="0" bIns="0">
            <a:spAutoFit/>
          </a:bodyPr>
          <a:lstStyle/>
          <a:p>
            <a:pPr algn="l"/>
            <a:r>
              <a:rPr sz="1600" b="0" i="0">
                <a:solidFill>
                  <a:srgbClr val="40464B"/>
                </a:solidFill>
                <a:latin typeface="Proxima Nova"/>
              </a:rPr>
              <a:t>[Bullet list of 3–5 representative closed deals with one-line outcome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097280" cy="73152"/>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972800" cy="365760"/>
          </a:xfrm>
          <a:prstGeom prst="rect">
            <a:avLst/>
          </a:prstGeom>
          <a:noFill/>
        </p:spPr>
        <p:txBody>
          <a:bodyPr wrap="square" lIns="0" rIns="0" tIns="0" bIns="0">
            <a:spAutoFit/>
          </a:bodyPr>
          <a:lstStyle/>
          <a:p>
            <a:pPr algn="l"/>
            <a:r>
              <a:rPr sz="1200" b="1" i="0">
                <a:solidFill>
                  <a:srgbClr val="A3D55D"/>
                </a:solidFill>
                <a:latin typeface="Gill Sans MT Pro"/>
              </a:rPr>
              <a:t>THE DEAL</a:t>
            </a:r>
          </a:p>
        </p:txBody>
      </p:sp>
      <p:sp>
        <p:nvSpPr>
          <p:cNvPr id="5" name="TextBox 4"/>
          <p:cNvSpPr txBox="1"/>
          <p:nvPr/>
        </p:nvSpPr>
        <p:spPr>
          <a:xfrm>
            <a:off x="822960" y="3246120"/>
            <a:ext cx="10972800" cy="1097280"/>
          </a:xfrm>
          <a:prstGeom prst="rect">
            <a:avLst/>
          </a:prstGeom>
          <a:noFill/>
        </p:spPr>
        <p:txBody>
          <a:bodyPr wrap="square" lIns="0" rIns="0" tIns="0" bIns="0">
            <a:spAutoFit/>
          </a:bodyPr>
          <a:lstStyle/>
          <a:p>
            <a:pPr algn="l"/>
            <a:r>
              <a:rPr sz="4400" b="1" i="0">
                <a:solidFill>
                  <a:srgbClr val="FFFFFF"/>
                </a:solidFill>
                <a:latin typeface="Gill Sans MT Pro"/>
              </a:rPr>
              <a:t>The Opportunity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Property overview</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Rectangle 6"/>
          <p:cNvSpPr/>
          <p:nvPr/>
        </p:nvSpPr>
        <p:spPr>
          <a:xfrm>
            <a:off x="548640" y="1554480"/>
            <a:ext cx="5486400" cy="411480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383280"/>
            <a:ext cx="5486400" cy="365760"/>
          </a:xfrm>
          <a:prstGeom prst="rect">
            <a:avLst/>
          </a:prstGeom>
          <a:noFill/>
        </p:spPr>
        <p:txBody>
          <a:bodyPr wrap="square" lIns="0" rIns="0" tIns="0" bIns="0">
            <a:spAutoFit/>
          </a:bodyPr>
          <a:lstStyle/>
          <a:p>
            <a:pPr algn="ctr"/>
            <a:r>
              <a:rPr sz="1200" b="0" i="1">
                <a:solidFill>
                  <a:srgbClr val="8A8F94"/>
                </a:solidFill>
                <a:latin typeface="Proxima Nova"/>
              </a:rPr>
              <a:t>[ Insert hero photo ]</a:t>
            </a:r>
          </a:p>
        </p:txBody>
      </p:sp>
      <p:sp>
        <p:nvSpPr>
          <p:cNvPr id="9" name="TextBox 8"/>
          <p:cNvSpPr txBox="1"/>
          <p:nvPr/>
        </p:nvSpPr>
        <p:spPr>
          <a:xfrm>
            <a:off x="6400800" y="1554480"/>
            <a:ext cx="5303520" cy="4389120"/>
          </a:xfrm>
          <a:prstGeom prst="rect">
            <a:avLst/>
          </a:prstGeom>
          <a:noFill/>
        </p:spPr>
        <p:txBody>
          <a:bodyPr wrap="square" lIns="0" rIns="0" tIns="0" bIns="0">
            <a:spAutoFit/>
          </a:bodyPr>
          <a:lstStyle/>
          <a:p>
            <a:pPr algn="l"/>
            <a:r>
              <a:rPr sz="1600" b="0" i="0">
                <a:solidFill>
                  <a:srgbClr val="40464B"/>
                </a:solidFill>
                <a:latin typeface="Proxima Nova"/>
              </a:rPr>
              <a:t>[Property name]
[Address, City, State]
•  [Asset class / # units]
•  [Year built / Year renovated]
•  [Sq ft / Lot size]
•  [Current occupancy]
•  [In-place vs market rent gap]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Investment thesis</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572000"/>
          </a:xfrm>
          <a:prstGeom prst="rect">
            <a:avLst/>
          </a:prstGeom>
          <a:noFill/>
        </p:spPr>
        <p:txBody>
          <a:bodyPr wrap="square" lIns="0" rIns="0" tIns="0" bIns="0">
            <a:spAutoFit/>
          </a:bodyPr>
          <a:lstStyle/>
          <a:p>
            <a:pPr algn="l"/>
            <a:r>
              <a:rPr sz="2000" b="0" i="0">
                <a:solidFill>
                  <a:srgbClr val="40464B"/>
                </a:solidFill>
                <a:latin typeface="Proxima Nova"/>
              </a:rPr>
              <a:t>•  [Why this is mispriced or under-managed today]
•  [The specific value-creation plan and timeline]
•  [What protects the downside — debt structure, market depth, sponsor experience]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Market &amp; comps</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754880"/>
          </a:xfrm>
          <a:prstGeom prst="rect">
            <a:avLst/>
          </a:prstGeom>
          <a:noFill/>
        </p:spPr>
        <p:txBody>
          <a:bodyPr wrap="square" lIns="0" rIns="0" tIns="0" bIns="0">
            <a:spAutoFit/>
          </a:bodyPr>
          <a:lstStyle/>
          <a:p>
            <a:pPr algn="l"/>
            <a:r>
              <a:rPr sz="1600" b="0" i="0">
                <a:solidFill>
                  <a:srgbClr val="40464B"/>
                </a:solidFill>
                <a:latin typeface="Proxima Nova"/>
              </a:rPr>
              <a:t>[Market context: rent trends, supply pipeline, demographics, employment. End with a clear sentence on why THIS submarket THIS year.]
[Comp table or chart placeholder — replace with actual rent comps and sale comps.]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097280" cy="73152"/>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972800" cy="365760"/>
          </a:xfrm>
          <a:prstGeom prst="rect">
            <a:avLst/>
          </a:prstGeom>
          <a:noFill/>
        </p:spPr>
        <p:txBody>
          <a:bodyPr wrap="square" lIns="0" rIns="0" tIns="0" bIns="0">
            <a:spAutoFit/>
          </a:bodyPr>
          <a:lstStyle/>
          <a:p>
            <a:pPr algn="l"/>
            <a:r>
              <a:rPr sz="1200" b="1" i="0">
                <a:solidFill>
                  <a:srgbClr val="A3D55D"/>
                </a:solidFill>
                <a:latin typeface="Gill Sans MT Pro"/>
              </a:rPr>
              <a:t>THE NUMBERS</a:t>
            </a:r>
          </a:p>
        </p:txBody>
      </p:sp>
      <p:sp>
        <p:nvSpPr>
          <p:cNvPr id="5" name="TextBox 4"/>
          <p:cNvSpPr txBox="1"/>
          <p:nvPr/>
        </p:nvSpPr>
        <p:spPr>
          <a:xfrm>
            <a:off x="822960" y="3246120"/>
            <a:ext cx="10972800" cy="1097280"/>
          </a:xfrm>
          <a:prstGeom prst="rect">
            <a:avLst/>
          </a:prstGeom>
          <a:noFill/>
        </p:spPr>
        <p:txBody>
          <a:bodyPr wrap="square" lIns="0" rIns="0" tIns="0" bIns="0">
            <a:spAutoFit/>
          </a:bodyPr>
          <a:lstStyle/>
          <a:p>
            <a:pPr algn="l"/>
            <a:r>
              <a:rPr sz="4400" b="1" i="0">
                <a:solidFill>
                  <a:srgbClr val="FFFFFF"/>
                </a:solidFill>
                <a:latin typeface="Gill Sans MT Pro"/>
              </a:rPr>
              <a:t>Returns &amp; 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Projected returns</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Rectangle 6"/>
          <p:cNvSpPr/>
          <p:nvPr/>
        </p:nvSpPr>
        <p:spPr>
          <a:xfrm>
            <a:off x="548640" y="1645920"/>
            <a:ext cx="3291840" cy="50292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55648"/>
            <a:ext cx="3017520" cy="365760"/>
          </a:xfrm>
          <a:prstGeom prst="rect">
            <a:avLst/>
          </a:prstGeom>
          <a:noFill/>
        </p:spPr>
        <p:txBody>
          <a:bodyPr wrap="square" lIns="0" rIns="0" tIns="0" bIns="0">
            <a:spAutoFit/>
          </a:bodyPr>
          <a:lstStyle/>
          <a:p>
            <a:pPr algn="l"/>
            <a:r>
              <a:rPr sz="1400" b="1" i="0">
                <a:solidFill>
                  <a:srgbClr val="FFFFFF"/>
                </a:solidFill>
                <a:latin typeface="Proxima Nova"/>
              </a:rPr>
              <a:t/>
            </a:r>
          </a:p>
        </p:txBody>
      </p:sp>
      <p:sp>
        <p:nvSpPr>
          <p:cNvPr id="9" name="Rectangle 8"/>
          <p:cNvSpPr/>
          <p:nvPr/>
        </p:nvSpPr>
        <p:spPr>
          <a:xfrm>
            <a:off x="3840480" y="1645920"/>
            <a:ext cx="2468880" cy="50292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77640" y="1755648"/>
            <a:ext cx="2194560" cy="365760"/>
          </a:xfrm>
          <a:prstGeom prst="rect">
            <a:avLst/>
          </a:prstGeom>
          <a:noFill/>
        </p:spPr>
        <p:txBody>
          <a:bodyPr wrap="square" lIns="0" rIns="0" tIns="0" bIns="0">
            <a:spAutoFit/>
          </a:bodyPr>
          <a:lstStyle/>
          <a:p>
            <a:pPr algn="l"/>
            <a:r>
              <a:rPr sz="1400" b="1" i="0">
                <a:solidFill>
                  <a:srgbClr val="FFFFFF"/>
                </a:solidFill>
                <a:latin typeface="Proxima Nova"/>
              </a:rPr>
              <a:t>Base case</a:t>
            </a:r>
          </a:p>
        </p:txBody>
      </p:sp>
      <p:sp>
        <p:nvSpPr>
          <p:cNvPr id="11" name="Rectangle 10"/>
          <p:cNvSpPr/>
          <p:nvPr/>
        </p:nvSpPr>
        <p:spPr>
          <a:xfrm>
            <a:off x="6309360" y="1645920"/>
            <a:ext cx="2468880" cy="50292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755648"/>
            <a:ext cx="2194560" cy="365760"/>
          </a:xfrm>
          <a:prstGeom prst="rect">
            <a:avLst/>
          </a:prstGeom>
          <a:noFill/>
        </p:spPr>
        <p:txBody>
          <a:bodyPr wrap="square" lIns="0" rIns="0" tIns="0" bIns="0">
            <a:spAutoFit/>
          </a:bodyPr>
          <a:lstStyle/>
          <a:p>
            <a:pPr algn="l"/>
            <a:r>
              <a:rPr sz="1400" b="1" i="0">
                <a:solidFill>
                  <a:srgbClr val="FFFFFF"/>
                </a:solidFill>
                <a:latin typeface="Proxima Nova"/>
              </a:rPr>
              <a:t>Downside</a:t>
            </a:r>
          </a:p>
        </p:txBody>
      </p:sp>
      <p:sp>
        <p:nvSpPr>
          <p:cNvPr id="13" name="Rectangle 12"/>
          <p:cNvSpPr/>
          <p:nvPr/>
        </p:nvSpPr>
        <p:spPr>
          <a:xfrm>
            <a:off x="8778240" y="1645920"/>
            <a:ext cx="2468880" cy="50292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755648"/>
            <a:ext cx="2194560" cy="365760"/>
          </a:xfrm>
          <a:prstGeom prst="rect">
            <a:avLst/>
          </a:prstGeom>
          <a:noFill/>
        </p:spPr>
        <p:txBody>
          <a:bodyPr wrap="square" lIns="0" rIns="0" tIns="0" bIns="0">
            <a:spAutoFit/>
          </a:bodyPr>
          <a:lstStyle/>
          <a:p>
            <a:pPr algn="l"/>
            <a:r>
              <a:rPr sz="1400" b="1" i="0">
                <a:solidFill>
                  <a:srgbClr val="FFFFFF"/>
                </a:solidFill>
                <a:latin typeface="Proxima Nova"/>
              </a:rPr>
              <a:t>Upside</a:t>
            </a:r>
          </a:p>
        </p:txBody>
      </p:sp>
      <p:sp>
        <p:nvSpPr>
          <p:cNvPr id="15" name="Rectangle 14"/>
          <p:cNvSpPr/>
          <p:nvPr/>
        </p:nvSpPr>
        <p:spPr>
          <a:xfrm>
            <a:off x="548640" y="2148840"/>
            <a:ext cx="10698480"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267712"/>
            <a:ext cx="3017520" cy="365760"/>
          </a:xfrm>
          <a:prstGeom prst="rect">
            <a:avLst/>
          </a:prstGeom>
          <a:noFill/>
        </p:spPr>
        <p:txBody>
          <a:bodyPr wrap="square" lIns="0" rIns="0" tIns="0" bIns="0">
            <a:spAutoFit/>
          </a:bodyPr>
          <a:lstStyle/>
          <a:p>
            <a:pPr algn="l"/>
            <a:r>
              <a:rPr sz="1400" b="1" i="0">
                <a:solidFill>
                  <a:srgbClr val="40464B"/>
                </a:solidFill>
                <a:latin typeface="Proxima Nova"/>
              </a:rPr>
              <a:t>Equity multiple</a:t>
            </a:r>
          </a:p>
        </p:txBody>
      </p:sp>
      <p:sp>
        <p:nvSpPr>
          <p:cNvPr id="17" name="TextBox 16"/>
          <p:cNvSpPr txBox="1"/>
          <p:nvPr/>
        </p:nvSpPr>
        <p:spPr>
          <a:xfrm>
            <a:off x="3977640" y="2267712"/>
            <a:ext cx="2194560" cy="365760"/>
          </a:xfrm>
          <a:prstGeom prst="rect">
            <a:avLst/>
          </a:prstGeom>
          <a:noFill/>
        </p:spPr>
        <p:txBody>
          <a:bodyPr wrap="square" lIns="0" rIns="0" tIns="0" bIns="0">
            <a:spAutoFit/>
          </a:bodyPr>
          <a:lstStyle/>
          <a:p>
            <a:pPr algn="l"/>
            <a:r>
              <a:rPr sz="1400" b="0" i="0">
                <a:solidFill>
                  <a:srgbClr val="40464B"/>
                </a:solidFill>
                <a:latin typeface="Proxima Nova"/>
              </a:rPr>
              <a:t>[#.##]x</a:t>
            </a:r>
          </a:p>
        </p:txBody>
      </p:sp>
      <p:sp>
        <p:nvSpPr>
          <p:cNvPr id="18" name="TextBox 17"/>
          <p:cNvSpPr txBox="1"/>
          <p:nvPr/>
        </p:nvSpPr>
        <p:spPr>
          <a:xfrm>
            <a:off x="6446520" y="2267712"/>
            <a:ext cx="2194560" cy="365760"/>
          </a:xfrm>
          <a:prstGeom prst="rect">
            <a:avLst/>
          </a:prstGeom>
          <a:noFill/>
        </p:spPr>
        <p:txBody>
          <a:bodyPr wrap="square" lIns="0" rIns="0" tIns="0" bIns="0">
            <a:spAutoFit/>
          </a:bodyPr>
          <a:lstStyle/>
          <a:p>
            <a:pPr algn="l"/>
            <a:r>
              <a:rPr sz="1400" b="0" i="0">
                <a:solidFill>
                  <a:srgbClr val="40464B"/>
                </a:solidFill>
                <a:latin typeface="Proxima Nova"/>
              </a:rPr>
              <a:t>[#.##]x</a:t>
            </a:r>
          </a:p>
        </p:txBody>
      </p:sp>
      <p:sp>
        <p:nvSpPr>
          <p:cNvPr id="19" name="TextBox 18"/>
          <p:cNvSpPr txBox="1"/>
          <p:nvPr/>
        </p:nvSpPr>
        <p:spPr>
          <a:xfrm>
            <a:off x="8915400" y="2267712"/>
            <a:ext cx="2194560" cy="365760"/>
          </a:xfrm>
          <a:prstGeom prst="rect">
            <a:avLst/>
          </a:prstGeom>
          <a:noFill/>
        </p:spPr>
        <p:txBody>
          <a:bodyPr wrap="square" lIns="0" rIns="0" tIns="0" bIns="0">
            <a:spAutoFit/>
          </a:bodyPr>
          <a:lstStyle/>
          <a:p>
            <a:pPr algn="l"/>
            <a:r>
              <a:rPr sz="1400" b="0" i="0">
                <a:solidFill>
                  <a:srgbClr val="40464B"/>
                </a:solidFill>
                <a:latin typeface="Proxima Nova"/>
              </a:rPr>
              <a:t>[#.##]x</a:t>
            </a:r>
          </a:p>
        </p:txBody>
      </p:sp>
      <p:sp>
        <p:nvSpPr>
          <p:cNvPr id="20" name="TextBox 19"/>
          <p:cNvSpPr txBox="1"/>
          <p:nvPr/>
        </p:nvSpPr>
        <p:spPr>
          <a:xfrm>
            <a:off x="685800" y="2770632"/>
            <a:ext cx="3017520" cy="365760"/>
          </a:xfrm>
          <a:prstGeom prst="rect">
            <a:avLst/>
          </a:prstGeom>
          <a:noFill/>
        </p:spPr>
        <p:txBody>
          <a:bodyPr wrap="square" lIns="0" rIns="0" tIns="0" bIns="0">
            <a:spAutoFit/>
          </a:bodyPr>
          <a:lstStyle/>
          <a:p>
            <a:pPr algn="l"/>
            <a:r>
              <a:rPr sz="1400" b="1" i="0">
                <a:solidFill>
                  <a:srgbClr val="40464B"/>
                </a:solidFill>
                <a:latin typeface="Proxima Nova"/>
              </a:rPr>
              <a:t>Investor IRR</a:t>
            </a:r>
          </a:p>
        </p:txBody>
      </p:sp>
      <p:sp>
        <p:nvSpPr>
          <p:cNvPr id="21" name="TextBox 20"/>
          <p:cNvSpPr txBox="1"/>
          <p:nvPr/>
        </p:nvSpPr>
        <p:spPr>
          <a:xfrm>
            <a:off x="3977640" y="2770632"/>
            <a:ext cx="2194560" cy="365760"/>
          </a:xfrm>
          <a:prstGeom prst="rect">
            <a:avLst/>
          </a:prstGeom>
          <a:noFill/>
        </p:spPr>
        <p:txBody>
          <a:bodyPr wrap="square" lIns="0" rIns="0" tIns="0" bIns="0">
            <a:spAutoFit/>
          </a:bodyPr>
          <a:lstStyle/>
          <a:p>
            <a:pPr algn="l"/>
            <a:r>
              <a:rPr sz="1400" b="0" i="0">
                <a:solidFill>
                  <a:srgbClr val="40464B"/>
                </a:solidFill>
                <a:latin typeface="Proxima Nova"/>
              </a:rPr>
              <a:t>[##]%</a:t>
            </a:r>
          </a:p>
        </p:txBody>
      </p:sp>
      <p:sp>
        <p:nvSpPr>
          <p:cNvPr id="22" name="TextBox 21"/>
          <p:cNvSpPr txBox="1"/>
          <p:nvPr/>
        </p:nvSpPr>
        <p:spPr>
          <a:xfrm>
            <a:off x="6446520" y="2770632"/>
            <a:ext cx="2194560" cy="365760"/>
          </a:xfrm>
          <a:prstGeom prst="rect">
            <a:avLst/>
          </a:prstGeom>
          <a:noFill/>
        </p:spPr>
        <p:txBody>
          <a:bodyPr wrap="square" lIns="0" rIns="0" tIns="0" bIns="0">
            <a:spAutoFit/>
          </a:bodyPr>
          <a:lstStyle/>
          <a:p>
            <a:pPr algn="l"/>
            <a:r>
              <a:rPr sz="1400" b="0" i="0">
                <a:solidFill>
                  <a:srgbClr val="40464B"/>
                </a:solidFill>
                <a:latin typeface="Proxima Nova"/>
              </a:rPr>
              <a:t>[##]%</a:t>
            </a:r>
          </a:p>
        </p:txBody>
      </p:sp>
      <p:sp>
        <p:nvSpPr>
          <p:cNvPr id="23" name="TextBox 22"/>
          <p:cNvSpPr txBox="1"/>
          <p:nvPr/>
        </p:nvSpPr>
        <p:spPr>
          <a:xfrm>
            <a:off x="8915400" y="2770632"/>
            <a:ext cx="2194560" cy="365760"/>
          </a:xfrm>
          <a:prstGeom prst="rect">
            <a:avLst/>
          </a:prstGeom>
          <a:noFill/>
        </p:spPr>
        <p:txBody>
          <a:bodyPr wrap="square" lIns="0" rIns="0" tIns="0" bIns="0">
            <a:spAutoFit/>
          </a:bodyPr>
          <a:lstStyle/>
          <a:p>
            <a:pPr algn="l"/>
            <a:r>
              <a:rPr sz="1400" b="0" i="0">
                <a:solidFill>
                  <a:srgbClr val="40464B"/>
                </a:solidFill>
                <a:latin typeface="Proxima Nova"/>
              </a:rPr>
              <a:t>[##]%</a:t>
            </a:r>
          </a:p>
        </p:txBody>
      </p:sp>
      <p:sp>
        <p:nvSpPr>
          <p:cNvPr id="24" name="Rectangle 23"/>
          <p:cNvSpPr/>
          <p:nvPr/>
        </p:nvSpPr>
        <p:spPr>
          <a:xfrm>
            <a:off x="548640" y="3154680"/>
            <a:ext cx="10698480"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273552"/>
            <a:ext cx="3017520" cy="365760"/>
          </a:xfrm>
          <a:prstGeom prst="rect">
            <a:avLst/>
          </a:prstGeom>
          <a:noFill/>
        </p:spPr>
        <p:txBody>
          <a:bodyPr wrap="square" lIns="0" rIns="0" tIns="0" bIns="0">
            <a:spAutoFit/>
          </a:bodyPr>
          <a:lstStyle/>
          <a:p>
            <a:pPr algn="l"/>
            <a:r>
              <a:rPr sz="1400" b="1" i="0">
                <a:solidFill>
                  <a:srgbClr val="40464B"/>
                </a:solidFill>
                <a:latin typeface="Proxima Nova"/>
              </a:rPr>
              <a:t>Avg. cash-on-cash</a:t>
            </a:r>
          </a:p>
        </p:txBody>
      </p:sp>
      <p:sp>
        <p:nvSpPr>
          <p:cNvPr id="26" name="TextBox 25"/>
          <p:cNvSpPr txBox="1"/>
          <p:nvPr/>
        </p:nvSpPr>
        <p:spPr>
          <a:xfrm>
            <a:off x="3977640" y="3273552"/>
            <a:ext cx="2194560" cy="365760"/>
          </a:xfrm>
          <a:prstGeom prst="rect">
            <a:avLst/>
          </a:prstGeom>
          <a:noFill/>
        </p:spPr>
        <p:txBody>
          <a:bodyPr wrap="square" lIns="0" rIns="0" tIns="0" bIns="0">
            <a:spAutoFit/>
          </a:bodyPr>
          <a:lstStyle/>
          <a:p>
            <a:pPr algn="l"/>
            <a:r>
              <a:rPr sz="1400" b="0" i="0">
                <a:solidFill>
                  <a:srgbClr val="40464B"/>
                </a:solidFill>
                <a:latin typeface="Proxima Nova"/>
              </a:rPr>
              <a:t>[#.#]%</a:t>
            </a:r>
          </a:p>
        </p:txBody>
      </p:sp>
      <p:sp>
        <p:nvSpPr>
          <p:cNvPr id="27" name="TextBox 26"/>
          <p:cNvSpPr txBox="1"/>
          <p:nvPr/>
        </p:nvSpPr>
        <p:spPr>
          <a:xfrm>
            <a:off x="6446520" y="3273552"/>
            <a:ext cx="2194560" cy="365760"/>
          </a:xfrm>
          <a:prstGeom prst="rect">
            <a:avLst/>
          </a:prstGeom>
          <a:noFill/>
        </p:spPr>
        <p:txBody>
          <a:bodyPr wrap="square" lIns="0" rIns="0" tIns="0" bIns="0">
            <a:spAutoFit/>
          </a:bodyPr>
          <a:lstStyle/>
          <a:p>
            <a:pPr algn="l"/>
            <a:r>
              <a:rPr sz="1400" b="0" i="0">
                <a:solidFill>
                  <a:srgbClr val="40464B"/>
                </a:solidFill>
                <a:latin typeface="Proxima Nova"/>
              </a:rPr>
              <a:t>[#.#]%</a:t>
            </a:r>
          </a:p>
        </p:txBody>
      </p:sp>
      <p:sp>
        <p:nvSpPr>
          <p:cNvPr id="28" name="TextBox 27"/>
          <p:cNvSpPr txBox="1"/>
          <p:nvPr/>
        </p:nvSpPr>
        <p:spPr>
          <a:xfrm>
            <a:off x="8915400" y="3273552"/>
            <a:ext cx="2194560" cy="365760"/>
          </a:xfrm>
          <a:prstGeom prst="rect">
            <a:avLst/>
          </a:prstGeom>
          <a:noFill/>
        </p:spPr>
        <p:txBody>
          <a:bodyPr wrap="square" lIns="0" rIns="0" tIns="0" bIns="0">
            <a:spAutoFit/>
          </a:bodyPr>
          <a:lstStyle/>
          <a:p>
            <a:pPr algn="l"/>
            <a:r>
              <a:rPr sz="1400" b="0" i="0">
                <a:solidFill>
                  <a:srgbClr val="40464B"/>
                </a:solidFill>
                <a:latin typeface="Proxima Nova"/>
              </a:rPr>
              <a:t>[#.#]%</a:t>
            </a:r>
          </a:p>
        </p:txBody>
      </p:sp>
      <p:sp>
        <p:nvSpPr>
          <p:cNvPr id="29" name="TextBox 28"/>
          <p:cNvSpPr txBox="1"/>
          <p:nvPr/>
        </p:nvSpPr>
        <p:spPr>
          <a:xfrm>
            <a:off x="685800" y="3776472"/>
            <a:ext cx="3017520" cy="365760"/>
          </a:xfrm>
          <a:prstGeom prst="rect">
            <a:avLst/>
          </a:prstGeom>
          <a:noFill/>
        </p:spPr>
        <p:txBody>
          <a:bodyPr wrap="square" lIns="0" rIns="0" tIns="0" bIns="0">
            <a:spAutoFit/>
          </a:bodyPr>
          <a:lstStyle/>
          <a:p>
            <a:pPr algn="l"/>
            <a:r>
              <a:rPr sz="1400" b="1" i="0">
                <a:solidFill>
                  <a:srgbClr val="40464B"/>
                </a:solidFill>
                <a:latin typeface="Proxima Nova"/>
              </a:rPr>
              <a:t>Hold period</a:t>
            </a:r>
          </a:p>
        </p:txBody>
      </p:sp>
      <p:sp>
        <p:nvSpPr>
          <p:cNvPr id="30" name="TextBox 29"/>
          <p:cNvSpPr txBox="1"/>
          <p:nvPr/>
        </p:nvSpPr>
        <p:spPr>
          <a:xfrm>
            <a:off x="3977640" y="3776472"/>
            <a:ext cx="2194560" cy="365760"/>
          </a:xfrm>
          <a:prstGeom prst="rect">
            <a:avLst/>
          </a:prstGeom>
          <a:noFill/>
        </p:spPr>
        <p:txBody>
          <a:bodyPr wrap="square" lIns="0" rIns="0" tIns="0" bIns="0">
            <a:spAutoFit/>
          </a:bodyPr>
          <a:lstStyle/>
          <a:p>
            <a:pPr algn="l"/>
            <a:r>
              <a:rPr sz="1400" b="0" i="0">
                <a:solidFill>
                  <a:srgbClr val="40464B"/>
                </a:solidFill>
                <a:latin typeface="Proxima Nova"/>
              </a:rPr>
              <a:t>[#] yrs</a:t>
            </a:r>
          </a:p>
        </p:txBody>
      </p:sp>
      <p:sp>
        <p:nvSpPr>
          <p:cNvPr id="31" name="TextBox 30"/>
          <p:cNvSpPr txBox="1"/>
          <p:nvPr/>
        </p:nvSpPr>
        <p:spPr>
          <a:xfrm>
            <a:off x="6446520" y="3776472"/>
            <a:ext cx="2194560" cy="365760"/>
          </a:xfrm>
          <a:prstGeom prst="rect">
            <a:avLst/>
          </a:prstGeom>
          <a:noFill/>
        </p:spPr>
        <p:txBody>
          <a:bodyPr wrap="square" lIns="0" rIns="0" tIns="0" bIns="0">
            <a:spAutoFit/>
          </a:bodyPr>
          <a:lstStyle/>
          <a:p>
            <a:pPr algn="l"/>
            <a:r>
              <a:rPr sz="1400" b="0" i="0">
                <a:solidFill>
                  <a:srgbClr val="40464B"/>
                </a:solidFill>
                <a:latin typeface="Proxima Nova"/>
              </a:rPr>
              <a:t>[#] yrs</a:t>
            </a:r>
          </a:p>
        </p:txBody>
      </p:sp>
      <p:sp>
        <p:nvSpPr>
          <p:cNvPr id="32" name="TextBox 31"/>
          <p:cNvSpPr txBox="1"/>
          <p:nvPr/>
        </p:nvSpPr>
        <p:spPr>
          <a:xfrm>
            <a:off x="8915400" y="3776472"/>
            <a:ext cx="2194560" cy="365760"/>
          </a:xfrm>
          <a:prstGeom prst="rect">
            <a:avLst/>
          </a:prstGeom>
          <a:noFill/>
        </p:spPr>
        <p:txBody>
          <a:bodyPr wrap="square" lIns="0" rIns="0" tIns="0" bIns="0">
            <a:spAutoFit/>
          </a:bodyPr>
          <a:lstStyle/>
          <a:p>
            <a:pPr algn="l"/>
            <a:r>
              <a:rPr sz="1400" b="0" i="0">
                <a:solidFill>
                  <a:srgbClr val="40464B"/>
                </a:solidFill>
                <a:latin typeface="Proxima Nova"/>
              </a:rPr>
              <a:t>[#] yrs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Deal structure &amp; fees</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572000"/>
          </a:xfrm>
          <a:prstGeom prst="rect">
            <a:avLst/>
          </a:prstGeom>
          <a:noFill/>
        </p:spPr>
        <p:txBody>
          <a:bodyPr wrap="square" lIns="0" rIns="0" tIns="0" bIns="0">
            <a:spAutoFit/>
          </a:bodyPr>
          <a:lstStyle/>
          <a:p>
            <a:pPr algn="l"/>
            <a:r>
              <a:rPr sz="1800" b="0" i="0">
                <a:solidFill>
                  <a:srgbClr val="40464B"/>
                </a:solidFill>
                <a:latin typeface="Proxima Nova"/>
              </a:rPr>
              <a:t>•  Total raise:  $[##]M
•  Min. investment:  $[###]K
•  Preferred return:  [#]% to LPs
•  Promote / waterfall:  [##/##] over the pref
•  GP co-invest:  [##]% (we invest alongside you)
•  Asset management fee:  [#.##]% of equity
•  Acquisition fee:  [#.##]% of purchase price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097280" cy="73152"/>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972800" cy="365760"/>
          </a:xfrm>
          <a:prstGeom prst="rect">
            <a:avLst/>
          </a:prstGeom>
          <a:noFill/>
        </p:spPr>
        <p:txBody>
          <a:bodyPr wrap="square" lIns="0" rIns="0" tIns="0" bIns="0">
            <a:spAutoFit/>
          </a:bodyPr>
          <a:lstStyle/>
          <a:p>
            <a:pPr algn="l"/>
            <a:r>
              <a:rPr sz="1200" b="1" i="0">
                <a:solidFill>
                  <a:srgbClr val="A3D55D"/>
                </a:solidFill>
                <a:latin typeface="Gill Sans MT Pro"/>
              </a:rPr>
              <a:t>OUR EDGE</a:t>
            </a:r>
          </a:p>
        </p:txBody>
      </p:sp>
      <p:sp>
        <p:nvSpPr>
          <p:cNvPr id="5" name="TextBox 4"/>
          <p:cNvSpPr txBox="1"/>
          <p:nvPr/>
        </p:nvSpPr>
        <p:spPr>
          <a:xfrm>
            <a:off x="822960" y="3246120"/>
            <a:ext cx="10972800" cy="1097280"/>
          </a:xfrm>
          <a:prstGeom prst="rect">
            <a:avLst/>
          </a:prstGeom>
          <a:noFill/>
        </p:spPr>
        <p:txBody>
          <a:bodyPr wrap="square" lIns="0" rIns="0" tIns="0" bIns="0">
            <a:spAutoFit/>
          </a:bodyPr>
          <a:lstStyle/>
          <a:p>
            <a:pPr algn="l"/>
            <a:r>
              <a:rPr sz="4400" b="1" i="0">
                <a:solidFill>
                  <a:srgbClr val="FFFFFF"/>
                </a:solidFill>
                <a:latin typeface="Gill Sans MT Pro"/>
              </a:rPr>
              <a:t>Why VisionWise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Our team</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754880"/>
          </a:xfrm>
          <a:prstGeom prst="rect">
            <a:avLst/>
          </a:prstGeom>
          <a:noFill/>
        </p:spPr>
        <p:txBody>
          <a:bodyPr wrap="square" lIns="0" rIns="0" tIns="0" bIns="0">
            <a:spAutoFit/>
          </a:bodyPr>
          <a:lstStyle/>
          <a:p>
            <a:pPr algn="l"/>
            <a:r>
              <a:rPr sz="1800" b="0" i="0">
                <a:solidFill>
                  <a:srgbClr val="40464B"/>
                </a:solidFill>
                <a:latin typeface="Proxima Nova"/>
              </a:rPr>
              <a:t>[Brief on Sanford D. Coggins and the operating team. Years in market, deals executed, what they bring to this specific deal. 2–3 sentences each.]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Risks we're underwriting</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572000"/>
          </a:xfrm>
          <a:prstGeom prst="rect">
            <a:avLst/>
          </a:prstGeom>
          <a:noFill/>
        </p:spPr>
        <p:txBody>
          <a:bodyPr wrap="square" lIns="0" rIns="0" tIns="0" bIns="0">
            <a:spAutoFit/>
          </a:bodyPr>
          <a:lstStyle/>
          <a:p>
            <a:pPr algn="l"/>
            <a:r>
              <a:rPr sz="1800" b="0" i="0">
                <a:solidFill>
                  <a:srgbClr val="40464B"/>
                </a:solidFill>
                <a:latin typeface="Proxima Nova"/>
              </a:rPr>
              <a:t>•  [Market risk — and how we mitigate it]
•  [Execution risk — and the team's experience with this specific lift]
•  [Capital structure risk — and the debt terms]
•  [Liquidity — and the expected hold]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097280" cy="73152"/>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972800" cy="365760"/>
          </a:xfrm>
          <a:prstGeom prst="rect">
            <a:avLst/>
          </a:prstGeom>
          <a:noFill/>
        </p:spPr>
        <p:txBody>
          <a:bodyPr wrap="square" lIns="0" rIns="0" tIns="0" bIns="0">
            <a:spAutoFit/>
          </a:bodyPr>
          <a:lstStyle/>
          <a:p>
            <a:pPr algn="l"/>
            <a:r>
              <a:rPr sz="1200" b="1" i="0">
                <a:solidFill>
                  <a:srgbClr val="A3D55D"/>
                </a:solidFill>
                <a:latin typeface="Gill Sans MT Pro"/>
              </a:rPr>
              <a:t>HOW TO INVEST</a:t>
            </a:r>
          </a:p>
        </p:txBody>
      </p:sp>
      <p:sp>
        <p:nvSpPr>
          <p:cNvPr id="5" name="TextBox 4"/>
          <p:cNvSpPr txBox="1"/>
          <p:nvPr/>
        </p:nvSpPr>
        <p:spPr>
          <a:xfrm>
            <a:off x="822960" y="3246120"/>
            <a:ext cx="10972800" cy="1097280"/>
          </a:xfrm>
          <a:prstGeom prst="rect">
            <a:avLst/>
          </a:prstGeom>
          <a:noFill/>
        </p:spPr>
        <p:txBody>
          <a:bodyPr wrap="square" lIns="0" rIns="0" tIns="0" bIns="0">
            <a:spAutoFit/>
          </a:bodyPr>
          <a:lstStyle/>
          <a:p>
            <a:pPr algn="l"/>
            <a:r>
              <a:rPr sz="4400" b="1" i="0">
                <a:solidFill>
                  <a:srgbClr val="FFFFFF"/>
                </a:solidFill>
                <a:latin typeface="Gill Sans MT Pro"/>
              </a:rPr>
              <a:t>Next Steps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rgb.png"/>
          <p:cNvPicPr>
            <a:picLocks noChangeAspect="1"/>
          </p:cNvPicPr>
          <p:nvPr/>
        </p:nvPicPr>
        <p:blipFill>
          <a:blip r:embed="rId2"/>
          <a:stretch>
            <a:fillRect/>
          </a:stretch>
        </p:blipFill>
        <p:spPr>
          <a:xfrm>
            <a:off x="10607040" y="502920"/>
            <a:ext cx="1371600" cy="225628"/>
          </a:xfrm>
          <a:prstGeom prst="rect">
            <a:avLst/>
          </a:prstGeom>
        </p:spPr>
      </p:pic>
      <p:sp>
        <p:nvSpPr>
          <p:cNvPr id="4" name="TextBox 3"/>
          <p:cNvSpPr txBox="1"/>
          <p:nvPr/>
        </p:nvSpPr>
        <p:spPr>
          <a:xfrm>
            <a:off x="548640" y="548640"/>
            <a:ext cx="10058400" cy="640080"/>
          </a:xfrm>
          <a:prstGeom prst="rect">
            <a:avLst/>
          </a:prstGeom>
          <a:noFill/>
        </p:spPr>
        <p:txBody>
          <a:bodyPr wrap="square" lIns="0" rIns="0" tIns="0" bIns="0">
            <a:spAutoFit/>
          </a:bodyPr>
          <a:lstStyle/>
          <a:p>
            <a:pPr algn="l"/>
            <a:r>
              <a:rPr sz="2800" b="1" i="0">
                <a:solidFill>
                  <a:srgbClr val="40464B"/>
                </a:solidFill>
                <a:latin typeface="Gill Sans MT Pro"/>
              </a:rPr>
              <a:t>Process &amp; timeline</a:t>
            </a:r>
          </a:p>
        </p:txBody>
      </p:sp>
      <p:sp>
        <p:nvSpPr>
          <p:cNvPr id="5" name="Rectangle 4"/>
          <p:cNvSpPr/>
          <p:nvPr/>
        </p:nvSpPr>
        <p:spPr>
          <a:xfrm>
            <a:off x="548640" y="1234440"/>
            <a:ext cx="731520" cy="36576"/>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10972800" cy="274320"/>
          </a:xfrm>
          <a:prstGeom prst="rect">
            <a:avLst/>
          </a:prstGeom>
          <a:noFill/>
        </p:spPr>
        <p:txBody>
          <a:bodyPr wrap="square" lIns="0" rIns="0" tIns="0" bIns="0">
            <a:spAutoFit/>
          </a:bodyPr>
          <a:lstStyle/>
          <a:p>
            <a:pPr algn="l"/>
            <a:r>
              <a:rPr sz="900" b="0" i="0">
                <a:solidFill>
                  <a:srgbClr val="8A8F94"/>
                </a:solidFill>
                <a:latin typeface="Proxima Nova"/>
              </a:rPr>
              <a:t>VisionWise Capital  ·  Confidential</a:t>
            </a:r>
          </a:p>
        </p:txBody>
      </p:sp>
      <p:sp>
        <p:nvSpPr>
          <p:cNvPr id="7" name="TextBox 6"/>
          <p:cNvSpPr txBox="1"/>
          <p:nvPr/>
        </p:nvSpPr>
        <p:spPr>
          <a:xfrm>
            <a:off x="548640" y="1554480"/>
            <a:ext cx="10972800" cy="4572000"/>
          </a:xfrm>
          <a:prstGeom prst="rect">
            <a:avLst/>
          </a:prstGeom>
          <a:noFill/>
        </p:spPr>
        <p:txBody>
          <a:bodyPr wrap="square" lIns="0" rIns="0" tIns="0" bIns="0">
            <a:spAutoFit/>
          </a:bodyPr>
          <a:lstStyle/>
          <a:p>
            <a:pPr algn="l"/>
            <a:r>
              <a:rPr sz="2000" b="0" i="0">
                <a:solidFill>
                  <a:srgbClr val="40464B"/>
                </a:solidFill>
                <a:latin typeface="Proxima Nova"/>
              </a:rPr>
              <a:t>1.  Soft-commit  —  by [Date]
2.  Diligence call &amp; document review  —  weeks of [Date]
3.  Subscription agreement &amp; wire  —  by [Date]
4.  Close  —  [Target close date]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04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A3D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rgb.png"/>
          <p:cNvPicPr>
            <a:picLocks noChangeAspect="1"/>
          </p:cNvPicPr>
          <p:nvPr/>
        </p:nvPicPr>
        <p:blipFill>
          <a:blip r:embed="rId2"/>
          <a:stretch>
            <a:fillRect/>
          </a:stretch>
        </p:blipFill>
        <p:spPr>
          <a:xfrm>
            <a:off x="822960" y="731520"/>
            <a:ext cx="2194560" cy="361005"/>
          </a:xfrm>
          <a:prstGeom prst="rect">
            <a:avLst/>
          </a:prstGeom>
        </p:spPr>
      </p:pic>
      <p:sp>
        <p:nvSpPr>
          <p:cNvPr id="5" name="TextBox 4"/>
          <p:cNvSpPr txBox="1"/>
          <p:nvPr/>
        </p:nvSpPr>
        <p:spPr>
          <a:xfrm>
            <a:off x="822960" y="2834640"/>
            <a:ext cx="10058400" cy="457200"/>
          </a:xfrm>
          <a:prstGeom prst="rect">
            <a:avLst/>
          </a:prstGeom>
          <a:noFill/>
        </p:spPr>
        <p:txBody>
          <a:bodyPr wrap="square" lIns="0" rIns="0" tIns="0" bIns="0">
            <a:spAutoFit/>
          </a:bodyPr>
          <a:lstStyle/>
          <a:p>
            <a:pPr algn="l"/>
            <a:r>
              <a:rPr sz="1400" b="1" i="0">
                <a:solidFill>
                  <a:srgbClr val="A3D55D"/>
                </a:solidFill>
                <a:latin typeface="Gill Sans MT Pro"/>
              </a:rPr>
              <a:t>LET'S TALK</a:t>
            </a:r>
          </a:p>
        </p:txBody>
      </p:sp>
      <p:sp>
        <p:nvSpPr>
          <p:cNvPr id="6" name="TextBox 5"/>
          <p:cNvSpPr txBox="1"/>
          <p:nvPr/>
        </p:nvSpPr>
        <p:spPr>
          <a:xfrm>
            <a:off x="822960" y="3291840"/>
            <a:ext cx="10058400" cy="1097280"/>
          </a:xfrm>
          <a:prstGeom prst="rect">
            <a:avLst/>
          </a:prstGeom>
          <a:noFill/>
        </p:spPr>
        <p:txBody>
          <a:bodyPr wrap="square" lIns="0" rIns="0" tIns="0" bIns="0">
            <a:spAutoFit/>
          </a:bodyPr>
          <a:lstStyle/>
          <a:p>
            <a:pPr algn="l"/>
            <a:r>
              <a:rPr sz="4400" b="1" i="0">
                <a:solidFill>
                  <a:srgbClr val="FFFFFF"/>
                </a:solidFill>
                <a:latin typeface="Gill Sans MT Pro"/>
              </a:rPr>
              <a:t>Sanford D. Coggins</a:t>
            </a:r>
          </a:p>
        </p:txBody>
      </p:sp>
      <p:sp>
        <p:nvSpPr>
          <p:cNvPr id="7" name="TextBox 6"/>
          <p:cNvSpPr txBox="1"/>
          <p:nvPr/>
        </p:nvSpPr>
        <p:spPr>
          <a:xfrm>
            <a:off x="822960" y="4297680"/>
            <a:ext cx="10058400" cy="457200"/>
          </a:xfrm>
          <a:prstGeom prst="rect">
            <a:avLst/>
          </a:prstGeom>
          <a:noFill/>
        </p:spPr>
        <p:txBody>
          <a:bodyPr wrap="square" lIns="0" rIns="0" tIns="0" bIns="0">
            <a:spAutoFit/>
          </a:bodyPr>
          <a:lstStyle/>
          <a:p>
            <a:pPr algn="l"/>
            <a:r>
              <a:rPr sz="1800" b="0" i="0">
                <a:solidFill>
                  <a:srgbClr val="DAF0BC"/>
                </a:solidFill>
                <a:latin typeface="Proxima Nova"/>
              </a:rPr>
              <a:t>Founder &amp; CEO, VisionWise Capital</a:t>
            </a:r>
          </a:p>
        </p:txBody>
      </p:sp>
      <p:sp>
        <p:nvSpPr>
          <p:cNvPr id="8" name="TextBox 7"/>
          <p:cNvSpPr txBox="1"/>
          <p:nvPr/>
        </p:nvSpPr>
        <p:spPr>
          <a:xfrm>
            <a:off x="822960" y="5120640"/>
            <a:ext cx="10058400" cy="457200"/>
          </a:xfrm>
          <a:prstGeom prst="rect">
            <a:avLst/>
          </a:prstGeom>
          <a:noFill/>
        </p:spPr>
        <p:txBody>
          <a:bodyPr wrap="square" lIns="0" rIns="0" tIns="0" bIns="0">
            <a:spAutoFit/>
          </a:bodyPr>
          <a:lstStyle/>
          <a:p>
            <a:pPr algn="l"/>
            <a:r>
              <a:rPr sz="1600" b="0" i="0">
                <a:solidFill>
                  <a:srgbClr val="FFFFFF"/>
                </a:solidFill>
                <a:latin typeface="Proxima Nova"/>
              </a:rPr>
              <a:t>[email]@visionwisecapital.com  ·  [Phone]</a:t>
            </a:r>
          </a:p>
        </p:txBody>
      </p:sp>
      <p:sp>
        <p:nvSpPr>
          <p:cNvPr id="9" name="TextBox 8"/>
          <p:cNvSpPr txBox="1"/>
          <p:nvPr/>
        </p:nvSpPr>
        <p:spPr>
          <a:xfrm>
            <a:off x="822960" y="5577840"/>
            <a:ext cx="10058400" cy="457200"/>
          </a:xfrm>
          <a:prstGeom prst="rect">
            <a:avLst/>
          </a:prstGeom>
          <a:noFill/>
        </p:spPr>
        <p:txBody>
          <a:bodyPr wrap="square" lIns="0" rIns="0" tIns="0" bIns="0">
            <a:spAutoFit/>
          </a:bodyPr>
          <a:lstStyle/>
          <a:p>
            <a:pPr algn="l"/>
            <a:r>
              <a:rPr sz="1600" b="0" i="0">
                <a:solidFill>
                  <a:srgbClr val="A3D55D"/>
                </a:solidFill>
                <a:latin typeface="Proxima Nova"/>
              </a:rPr>
              <a:t>visionwisecapital.com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