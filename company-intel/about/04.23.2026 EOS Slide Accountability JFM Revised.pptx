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35" r:id="rId2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A7F666A2-3E38-415F-BD0C-E46E2AC78D6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F82C794A-67A3-4507-AC6D-DBE3F573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78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11731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A5FEB-29FB-4010-AA34-C80959E7293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429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A9B6D-4A1E-4729-B225-11E8F7CE0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597186-CF4A-49BA-BC40-8A7097EE1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820D5-B388-4A8A-8DA9-F9FCE5F96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B73DF-746C-468F-B655-4C34140059F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71C7C-FB57-4011-9B36-4C1E44D9D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79D15-008B-499D-AC41-E1AB80B66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835EF-F899-4300-BA6A-23DBD20CB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1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2C712-4BAD-4FE4-B3D0-150658327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3C241-19A9-4381-B70E-49D2B5DFE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263E3-EDF7-44B8-975D-151331E51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B73DF-746C-468F-B655-4C34140059F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0C824-FFA5-41AA-BAC8-6076B2F65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71A0D-2603-49CE-87FC-E960D79A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835EF-F899-4300-BA6A-23DBD20CB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895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40127-A9C0-4E31-9AC4-16E14AD64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5EA7A-51C0-47C6-AB2A-4EB01C680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7FF26-7599-4CDC-AFE6-DD1E10E96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B73DF-746C-468F-B655-4C34140059F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594A7-9925-4C4C-96C9-F76975315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6700F-9473-4BD9-96D9-1939D003F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835EF-F899-4300-BA6A-23DBD20CB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54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A4608-7028-4C3D-A893-73C19343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0624-FEA1-4A10-A57C-C6EFF4DBD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02DBF-8BA3-482C-9494-B487E8EFD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5A098-7036-4554-B3C4-C9E68080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B73DF-746C-468F-B655-4C34140059F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3E374-B5C6-403F-B983-C5D5E3B61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4D6F1-8BC1-4CA5-9EA3-906701142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835EF-F899-4300-BA6A-23DBD20CB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16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C2CF-BB61-4E65-BC8F-F97C4C47A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57E64-CECA-4378-96A2-14F1CEA56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CF0A3-7B8C-46C1-ACE6-88BE22116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C930D2-8969-4802-A580-F620FD5E2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721AAC-3706-4CA2-AB91-985F0343A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3A5A81-1DFE-4F72-9C91-CB81557C0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B73DF-746C-468F-B655-4C34140059F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A19632-CCD5-43D5-805F-E3C30985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DDEAF-10A2-47B1-8A40-24EE522FB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835EF-F899-4300-BA6A-23DBD20CB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39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08EF2-9959-4461-AF16-52AD37651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AE0479-F5FB-4DD7-92AA-5EBBE2E5D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B73DF-746C-468F-B655-4C34140059F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26C7C7-A192-418D-AC61-501E7E870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57C9F-651F-44D9-B356-DC88F010D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835EF-F899-4300-BA6A-23DBD20CB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2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05BC77-EE5B-437D-A4A9-749C6E233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B73DF-746C-468F-B655-4C34140059F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C56127-69E4-4D78-8A94-BA334ECD6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87B64-730D-4EE0-8831-D96FAC473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835EF-F899-4300-BA6A-23DBD20CB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98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3E6E-43F9-499A-B706-C97C5DE3D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B7671-5BFB-4989-B525-CB28F82C0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5CDFB-094E-43D9-A03D-8D090D908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CD50F-0183-4EAE-BCEB-00658B12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B73DF-746C-468F-B655-4C34140059F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B877B-7193-48B4-97F5-CE7B8595E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B0230-63EB-4A05-B8FA-FCB671189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835EF-F899-4300-BA6A-23DBD20CB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81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8EA46-EE59-4584-B1AB-3B1084726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0F3D5B-B28B-4006-ACA1-1738C6659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7612F-A05A-4D32-A04B-3131B7119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18F43-3D30-4CDD-8347-68EB0E0C8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B73DF-746C-468F-B655-4C34140059F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E2FAA-5B94-4144-8CC9-8832180BE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D46BA-C2B8-40E7-B8FC-76311531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835EF-F899-4300-BA6A-23DBD20CB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12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0FF67-FFB4-459C-B83B-BA70A800A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96AEA-B199-43CB-B4EF-06D9FBFC6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352F9-00EF-470B-B39F-94A2D8A33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B73DF-746C-468F-B655-4C34140059F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A76EF-847E-472E-BD28-3D990A69D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EBF94-CCBA-41C3-88CF-FEB74C3B2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835EF-F899-4300-BA6A-23DBD20CB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8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014367-8368-43AE-B5F9-B363DFA02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5361BE-D3A3-4BA5-AFC7-8964FBF7C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DAC62-192C-4240-ADA1-3285B7064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B73DF-746C-468F-B655-4C34140059F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3C809-4227-4258-87B8-5345743A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82F0C-540F-478E-8944-D11E1B52C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835EF-F899-4300-BA6A-23DBD20CB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48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3D59E0-91E7-4C0B-9EFB-039CCDED4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A772C-3871-4B92-87F1-4F406FF60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8F192-DC6A-4948-8828-176E7D035E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B73DF-746C-468F-B655-4C34140059F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64479-EC69-49C0-BD02-C139F2C99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0610E-7C53-4C39-8E89-5947E03F39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835EF-F899-4300-BA6A-23DBD20CB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080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9D57264-8F93-470E-8D77-4AD8D01BC5FD}"/>
              </a:ext>
            </a:extLst>
          </p:cNvPr>
          <p:cNvSpPr txBox="1"/>
          <p:nvPr/>
        </p:nvSpPr>
        <p:spPr>
          <a:xfrm>
            <a:off x="466344" y="191238"/>
            <a:ext cx="5430789" cy="421270"/>
          </a:xfrm>
          <a:prstGeom prst="rect">
            <a:avLst/>
          </a:prstGeom>
          <a:noFill/>
        </p:spPr>
        <p:txBody>
          <a:bodyPr wrap="square" lIns="51435" tIns="25718" rIns="51435" bIns="25718" rtlCol="0">
            <a:spAutoFit/>
          </a:bodyPr>
          <a:lstStyle/>
          <a:p>
            <a:r>
              <a:rPr lang="en-US" sz="2400" b="1" cap="all" dirty="0">
                <a:latin typeface="Arial" panose="020B0604020202020204" pitchFamily="34" charset="0"/>
                <a:cs typeface="Arial" panose="020B0604020202020204" pitchFamily="34" charset="0"/>
              </a:rPr>
              <a:t>THE ACCOUNTABILITY CHART</a:t>
            </a:r>
          </a:p>
        </p:txBody>
      </p:sp>
      <p:pic>
        <p:nvPicPr>
          <p:cNvPr id="9" name="officeArt object">
            <a:extLst>
              <a:ext uri="{FF2B5EF4-FFF2-40B4-BE49-F238E27FC236}">
                <a16:creationId xmlns:a16="http://schemas.microsoft.com/office/drawing/2014/main" id="{B5F22E1E-3F1A-48F2-AC95-AF6E6B50B96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528701" y="6083812"/>
            <a:ext cx="1794719" cy="272540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65694-3235-464C-A0E5-FD5E1C5D8545}"/>
              </a:ext>
            </a:extLst>
          </p:cNvPr>
          <p:cNvSpPr txBox="1"/>
          <p:nvPr/>
        </p:nvSpPr>
        <p:spPr>
          <a:xfrm>
            <a:off x="5377197" y="210510"/>
            <a:ext cx="1787028" cy="80599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VISIONARY –  </a:t>
            </a:r>
            <a:r>
              <a:rPr lang="en-US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SANFORD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Diplomat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Face of the Company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Work “on” the Business not “in”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Big Relationships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Strategic Direction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586819-9F34-4408-AA5D-EA85235CEB75}"/>
              </a:ext>
            </a:extLst>
          </p:cNvPr>
          <p:cNvSpPr txBox="1"/>
          <p:nvPr/>
        </p:nvSpPr>
        <p:spPr>
          <a:xfrm>
            <a:off x="5377197" y="1362488"/>
            <a:ext cx="1787028" cy="105221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INTEGRATOR – </a:t>
            </a:r>
            <a:r>
              <a:rPr lang="en-US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BRYDEN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 &amp; L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Business Plan Achievement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Special Projects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Remove Obstacles and Barriers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Hiring Employees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*Special Projects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*Human Talent Search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149531-B48A-4BD0-A93C-CB840D439A9B}"/>
              </a:ext>
            </a:extLst>
          </p:cNvPr>
          <p:cNvSpPr txBox="1"/>
          <p:nvPr/>
        </p:nvSpPr>
        <p:spPr>
          <a:xfrm>
            <a:off x="3439433" y="3212284"/>
            <a:ext cx="1322945" cy="83676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/ CAPITAL</a:t>
            </a:r>
          </a:p>
          <a:p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SOURCING </a:t>
            </a:r>
          </a:p>
          <a:p>
            <a:r>
              <a:rPr lang="en-US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SANFORD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Raising Capital – (Closer)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Investor Relationship Mgt. 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Sales Team Call Agenda</a:t>
            </a:r>
            <a:endParaRPr lang="en-US" sz="9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C77FBF-F974-4C9B-A13D-C4674F2CCD6B}"/>
              </a:ext>
            </a:extLst>
          </p:cNvPr>
          <p:cNvSpPr txBox="1"/>
          <p:nvPr/>
        </p:nvSpPr>
        <p:spPr>
          <a:xfrm>
            <a:off x="4932596" y="3196895"/>
            <a:ext cx="1538542" cy="106760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FINANCE / ACCOUNTING</a:t>
            </a:r>
          </a:p>
          <a:p>
            <a:r>
              <a:rPr lang="en-US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CONTROLLER – DANIEL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Investor Updates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Strategic Planning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Accounting / Financial Reporting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Debt Financing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Finance Team Call Agenda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EA25ED-4727-46BA-B723-6B9CAFA1590A}"/>
              </a:ext>
            </a:extLst>
          </p:cNvPr>
          <p:cNvSpPr txBox="1"/>
          <p:nvPr/>
        </p:nvSpPr>
        <p:spPr>
          <a:xfrm>
            <a:off x="6669448" y="3211800"/>
            <a:ext cx="1597027" cy="12061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pPr marL="0" lvl="1"/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CONSTRUCTION &amp; PROJECT MANAGEMENT</a:t>
            </a:r>
          </a:p>
          <a:p>
            <a:r>
              <a:rPr lang="en-US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JULIO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Construction Lifecycle: 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Renovation Budget, 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Property Maintenance, 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Cost Containment, 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Project Scheduling &amp; Updates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Invoice / GL Submittal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51E474-CEB7-4AC9-8262-392D3A394860}"/>
              </a:ext>
            </a:extLst>
          </p:cNvPr>
          <p:cNvSpPr txBox="1"/>
          <p:nvPr/>
        </p:nvSpPr>
        <p:spPr>
          <a:xfrm>
            <a:off x="8546932" y="3198086"/>
            <a:ext cx="1677299" cy="106760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ASSET MANAGEMENT</a:t>
            </a:r>
          </a:p>
          <a:p>
            <a:r>
              <a:rPr lang="en-US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JULIE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Reno Budget Supervision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Renovation “Design” Input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Calendar Management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Transaction Coordination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Property Mgt Oversight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Investor Relationships </a:t>
            </a:r>
            <a:endParaRPr lang="en-US" sz="9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BC4433-86C3-477D-B75F-A1EEF2A70F14}"/>
              </a:ext>
            </a:extLst>
          </p:cNvPr>
          <p:cNvSpPr txBox="1"/>
          <p:nvPr/>
        </p:nvSpPr>
        <p:spPr>
          <a:xfrm>
            <a:off x="1852729" y="3214185"/>
            <a:ext cx="1402565" cy="132921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DEAL ACQUISITION/</a:t>
            </a:r>
          </a:p>
          <a:p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DISPOSITION</a:t>
            </a:r>
          </a:p>
          <a:p>
            <a:r>
              <a:rPr lang="en-US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CEDRIC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Sourcing Deals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Broker Relations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Underwriting/QC Projections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Market Research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Dispositions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Transaction Coordination</a:t>
            </a:r>
          </a:p>
          <a:p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Acq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Disp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Team Agenda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4F5B5A-572E-4DC0-AAA9-9E248757D307}"/>
              </a:ext>
            </a:extLst>
          </p:cNvPr>
          <p:cNvSpPr txBox="1"/>
          <p:nvPr/>
        </p:nvSpPr>
        <p:spPr>
          <a:xfrm>
            <a:off x="388627" y="3215474"/>
            <a:ext cx="1173806" cy="182165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 </a:t>
            </a:r>
            <a:r>
              <a:rPr lang="en-US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WINSTON 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Attracting Investors (Accredited, New Investors, Wealth Managers)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Brand Development &amp; Protection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Content Creation &amp; Distribution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ID Events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Marketing Team 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Call Agenda</a:t>
            </a:r>
          </a:p>
          <a:p>
            <a:endParaRPr lang="en-US" sz="9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896CCDE-E9BC-4DA6-8B23-DE55B62AB5AB}"/>
              </a:ext>
            </a:extLst>
          </p:cNvPr>
          <p:cNvCxnSpPr>
            <a:cxnSpLocks/>
          </p:cNvCxnSpPr>
          <p:nvPr/>
        </p:nvCxnSpPr>
        <p:spPr>
          <a:xfrm>
            <a:off x="1088750" y="2846077"/>
            <a:ext cx="10012680" cy="48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B816D8-F280-4EB3-A07A-C4275C918DF8}"/>
              </a:ext>
            </a:extLst>
          </p:cNvPr>
          <p:cNvCxnSpPr>
            <a:cxnSpLocks/>
          </p:cNvCxnSpPr>
          <p:nvPr/>
        </p:nvCxnSpPr>
        <p:spPr>
          <a:xfrm>
            <a:off x="1106835" y="2846077"/>
            <a:ext cx="0" cy="342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DAFD0F7-626E-4D57-9930-A7C745A7277C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6270710" y="2414700"/>
            <a:ext cx="1" cy="416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B5AE789-6A64-251F-8623-290B96ADF4D7}"/>
              </a:ext>
            </a:extLst>
          </p:cNvPr>
          <p:cNvCxnSpPr>
            <a:cxnSpLocks/>
          </p:cNvCxnSpPr>
          <p:nvPr/>
        </p:nvCxnSpPr>
        <p:spPr>
          <a:xfrm>
            <a:off x="2562249" y="2870100"/>
            <a:ext cx="0" cy="342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8AB76EF-E650-60B5-0F02-2BAD0BF1F4E0}"/>
              </a:ext>
            </a:extLst>
          </p:cNvPr>
          <p:cNvCxnSpPr>
            <a:cxnSpLocks/>
          </p:cNvCxnSpPr>
          <p:nvPr/>
        </p:nvCxnSpPr>
        <p:spPr>
          <a:xfrm>
            <a:off x="4093946" y="2870100"/>
            <a:ext cx="0" cy="342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25C6745-C88B-E1A8-F06E-E02F76B6F0D3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5701867" y="2894123"/>
            <a:ext cx="0" cy="302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4583087-CD83-8CD5-A359-E46D531633A4}"/>
              </a:ext>
            </a:extLst>
          </p:cNvPr>
          <p:cNvCxnSpPr>
            <a:cxnSpLocks/>
          </p:cNvCxnSpPr>
          <p:nvPr/>
        </p:nvCxnSpPr>
        <p:spPr>
          <a:xfrm>
            <a:off x="7485833" y="2894123"/>
            <a:ext cx="0" cy="342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054D740-2CDF-2174-9D66-7AF769A0EC1C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9385581" y="2930999"/>
            <a:ext cx="1" cy="267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5D86399-5824-134C-D038-3490F3D7BE88}"/>
              </a:ext>
            </a:extLst>
          </p:cNvPr>
          <p:cNvSpPr txBox="1"/>
          <p:nvPr/>
        </p:nvSpPr>
        <p:spPr>
          <a:xfrm>
            <a:off x="10439958" y="3196896"/>
            <a:ext cx="1322945" cy="122148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ADMINSTRATION &amp; </a:t>
            </a:r>
          </a:p>
          <a:p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ASST </a:t>
            </a:r>
          </a:p>
          <a:p>
            <a:r>
              <a:rPr lang="en-US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JULIE 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Calendar 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Para-Legal (legal light)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Investor Communication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Special Projects</a:t>
            </a:r>
          </a:p>
          <a:p>
            <a:endParaRPr lang="en-US" sz="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9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FB253C7-B45E-6162-5A01-835D2145F02C}"/>
              </a:ext>
            </a:extLst>
          </p:cNvPr>
          <p:cNvCxnSpPr>
            <a:cxnSpLocks/>
          </p:cNvCxnSpPr>
          <p:nvPr/>
        </p:nvCxnSpPr>
        <p:spPr>
          <a:xfrm>
            <a:off x="11101430" y="2898644"/>
            <a:ext cx="0" cy="311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04C0336-D942-5CA8-015A-5945C58F97E3}"/>
              </a:ext>
            </a:extLst>
          </p:cNvPr>
          <p:cNvSpPr txBox="1"/>
          <p:nvPr/>
        </p:nvSpPr>
        <p:spPr>
          <a:xfrm>
            <a:off x="5148192" y="5558223"/>
            <a:ext cx="1322945" cy="32893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BOOKKEEPING</a:t>
            </a:r>
          </a:p>
          <a:p>
            <a:r>
              <a:rPr lang="en-US" sz="9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JOSETTE</a:t>
            </a:r>
            <a:endParaRPr lang="en-US" sz="9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FFE1A59-C252-C9C9-F240-36FC878F1B56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701867" y="4264496"/>
            <a:ext cx="0" cy="1293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E2640E1-2D37-96E5-DCEE-CCFC60E68315}"/>
              </a:ext>
            </a:extLst>
          </p:cNvPr>
          <p:cNvSpPr txBox="1"/>
          <p:nvPr/>
        </p:nvSpPr>
        <p:spPr>
          <a:xfrm>
            <a:off x="9088684" y="509908"/>
            <a:ext cx="1738144" cy="55977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LEGAL –   </a:t>
            </a:r>
            <a:r>
              <a:rPr lang="en-US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RUTAN &amp; TUCKER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HR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Contract Drafting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Strategic Input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A8157CF-3989-335C-561C-0C7FC8FB4F9F}"/>
              </a:ext>
            </a:extLst>
          </p:cNvPr>
          <p:cNvCxnSpPr>
            <a:cxnSpLocks/>
          </p:cNvCxnSpPr>
          <p:nvPr/>
        </p:nvCxnSpPr>
        <p:spPr>
          <a:xfrm flipH="1">
            <a:off x="8730428" y="954946"/>
            <a:ext cx="6658" cy="1597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FB562EF-49E6-BA14-542B-96649147CA37}"/>
              </a:ext>
            </a:extLst>
          </p:cNvPr>
          <p:cNvCxnSpPr>
            <a:cxnSpLocks/>
          </p:cNvCxnSpPr>
          <p:nvPr/>
        </p:nvCxnSpPr>
        <p:spPr>
          <a:xfrm>
            <a:off x="7150906" y="1767385"/>
            <a:ext cx="15795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9A38D79-B1B5-1C5A-D3BA-F1D9A2031A97}"/>
              </a:ext>
            </a:extLst>
          </p:cNvPr>
          <p:cNvCxnSpPr>
            <a:cxnSpLocks/>
          </p:cNvCxnSpPr>
          <p:nvPr/>
        </p:nvCxnSpPr>
        <p:spPr>
          <a:xfrm>
            <a:off x="8743746" y="2555144"/>
            <a:ext cx="3449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BB91481-CBA6-1F84-810E-A35E6C56677E}"/>
              </a:ext>
            </a:extLst>
          </p:cNvPr>
          <p:cNvCxnSpPr>
            <a:cxnSpLocks/>
          </p:cNvCxnSpPr>
          <p:nvPr/>
        </p:nvCxnSpPr>
        <p:spPr>
          <a:xfrm>
            <a:off x="8743746" y="954946"/>
            <a:ext cx="3449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6996B73-1716-F94F-E7A0-7597B55E3FDD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6270711" y="1016501"/>
            <a:ext cx="0" cy="345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E860E19-07D7-6FEB-380C-3CF74D558EFD}"/>
              </a:ext>
            </a:extLst>
          </p:cNvPr>
          <p:cNvSpPr txBox="1"/>
          <p:nvPr/>
        </p:nvSpPr>
        <p:spPr>
          <a:xfrm>
            <a:off x="9088684" y="2241985"/>
            <a:ext cx="1787028" cy="55977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 ACCOUNTING – </a:t>
            </a:r>
            <a:r>
              <a:rPr lang="en-US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MGO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Tax Preparation</a:t>
            </a:r>
          </a:p>
          <a:p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Fwd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Financial / Cash Flow  Planning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Monthly Reporting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7AE768-431D-61F0-A327-CA9CBF5DDBC5}"/>
              </a:ext>
            </a:extLst>
          </p:cNvPr>
          <p:cNvCxnSpPr>
            <a:cxnSpLocks/>
          </p:cNvCxnSpPr>
          <p:nvPr/>
        </p:nvCxnSpPr>
        <p:spPr>
          <a:xfrm>
            <a:off x="8743746" y="176738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CBF8B72-890A-8540-36A5-4F3FD8D3FBB0}"/>
              </a:ext>
            </a:extLst>
          </p:cNvPr>
          <p:cNvSpPr txBox="1"/>
          <p:nvPr/>
        </p:nvSpPr>
        <p:spPr>
          <a:xfrm>
            <a:off x="6687319" y="5016379"/>
            <a:ext cx="1597027" cy="46743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pPr marL="0" lvl="1"/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TRADESMEN &amp; VENDOR MANAGEMENT</a:t>
            </a:r>
          </a:p>
          <a:p>
            <a:r>
              <a:rPr lang="en-US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ISRAEL   30 – 45 Total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6FA45-6E94-15F4-D32D-0080AB5148AE}"/>
              </a:ext>
            </a:extLst>
          </p:cNvPr>
          <p:cNvSpPr txBox="1"/>
          <p:nvPr/>
        </p:nvSpPr>
        <p:spPr>
          <a:xfrm>
            <a:off x="8528701" y="5037128"/>
            <a:ext cx="496021" cy="32893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pPr marL="0" lvl="1"/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 MGR</a:t>
            </a:r>
            <a:endParaRPr lang="en-US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8AC4EE-838F-493F-FC01-9902DE67353A}"/>
              </a:ext>
            </a:extLst>
          </p:cNvPr>
          <p:cNvSpPr txBox="1"/>
          <p:nvPr/>
        </p:nvSpPr>
        <p:spPr>
          <a:xfrm>
            <a:off x="9137570" y="5023912"/>
            <a:ext cx="496021" cy="32893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pPr marL="0" lvl="1"/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 MGR</a:t>
            </a:r>
            <a:endParaRPr lang="en-US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96C41A-D045-098B-E71A-5E3B74381D2D}"/>
              </a:ext>
            </a:extLst>
          </p:cNvPr>
          <p:cNvSpPr txBox="1"/>
          <p:nvPr/>
        </p:nvSpPr>
        <p:spPr>
          <a:xfrm>
            <a:off x="9734188" y="5007539"/>
            <a:ext cx="496021" cy="32893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pPr marL="0" lvl="1"/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 MGR</a:t>
            </a:r>
            <a:endParaRPr lang="en-US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04F09E-38FA-F70C-C3B4-8C75C46066E2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9385582" y="4265687"/>
            <a:ext cx="0" cy="5195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67C4B2D-665A-0BFB-2555-DFC2F6CA0B19}"/>
              </a:ext>
            </a:extLst>
          </p:cNvPr>
          <p:cNvCxnSpPr>
            <a:cxnSpLocks/>
          </p:cNvCxnSpPr>
          <p:nvPr/>
        </p:nvCxnSpPr>
        <p:spPr>
          <a:xfrm>
            <a:off x="7397441" y="4402995"/>
            <a:ext cx="0" cy="6045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87FEC30-56CC-7069-B863-CCBB1EA8D1AD}"/>
              </a:ext>
            </a:extLst>
          </p:cNvPr>
          <p:cNvCxnSpPr>
            <a:cxnSpLocks/>
          </p:cNvCxnSpPr>
          <p:nvPr/>
        </p:nvCxnSpPr>
        <p:spPr>
          <a:xfrm>
            <a:off x="8677490" y="4785253"/>
            <a:ext cx="18966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9D58FC5-E9B9-62B7-841B-BFC665FE7F9C}"/>
              </a:ext>
            </a:extLst>
          </p:cNvPr>
          <p:cNvCxnSpPr>
            <a:cxnSpLocks/>
          </p:cNvCxnSpPr>
          <p:nvPr/>
        </p:nvCxnSpPr>
        <p:spPr>
          <a:xfrm>
            <a:off x="8662252" y="4785253"/>
            <a:ext cx="0" cy="251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1381EA0-9300-CE6D-0276-A6C7BF9F9678}"/>
              </a:ext>
            </a:extLst>
          </p:cNvPr>
          <p:cNvCxnSpPr>
            <a:cxnSpLocks/>
          </p:cNvCxnSpPr>
          <p:nvPr/>
        </p:nvCxnSpPr>
        <p:spPr>
          <a:xfrm>
            <a:off x="9317626" y="4785253"/>
            <a:ext cx="0" cy="251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84BDE57-9040-DD38-A925-6FD626E79AB3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9982199" y="4785253"/>
            <a:ext cx="0" cy="222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A9FA730-159E-30F9-C226-8C95217B49EC}"/>
              </a:ext>
            </a:extLst>
          </p:cNvPr>
          <p:cNvSpPr txBox="1"/>
          <p:nvPr/>
        </p:nvSpPr>
        <p:spPr>
          <a:xfrm>
            <a:off x="10326101" y="5016378"/>
            <a:ext cx="496021" cy="32893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1435" tIns="25718" rIns="51435" bIns="25718" rtlCol="0">
            <a:spAutoFit/>
          </a:bodyPr>
          <a:lstStyle/>
          <a:p>
            <a:pPr marL="0" lvl="1"/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 MGR</a:t>
            </a:r>
            <a:endParaRPr lang="en-US" sz="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9A6C16-BC0C-8B05-C83D-9B7064A1EB9A}"/>
              </a:ext>
            </a:extLst>
          </p:cNvPr>
          <p:cNvCxnSpPr>
            <a:cxnSpLocks/>
          </p:cNvCxnSpPr>
          <p:nvPr/>
        </p:nvCxnSpPr>
        <p:spPr>
          <a:xfrm>
            <a:off x="10586302" y="4800047"/>
            <a:ext cx="0" cy="222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041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2995</TotalTime>
  <Words>242</Words>
  <Application>Microsoft Office PowerPoint</Application>
  <PresentationFormat>Widescreen</PresentationFormat>
  <Paragraphs>85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sanford@visionwisecapital.com</dc:creator>
  <cp:lastModifiedBy>Julie@visionwisecapital.com</cp:lastModifiedBy>
  <cp:revision>19</cp:revision>
  <cp:lastPrinted>2021-09-01T17:33:24Z</cp:lastPrinted>
  <dcterms:created xsi:type="dcterms:W3CDTF">2021-07-07T14:08:07Z</dcterms:created>
  <dcterms:modified xsi:type="dcterms:W3CDTF">2026-04-23T22:58:44Z</dcterms:modified>
</cp:coreProperties>
</file>