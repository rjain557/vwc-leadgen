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sldIdLst>
    <p:sldId id="362" r:id="rId5"/>
    <p:sldId id="364" r:id="rId6"/>
    <p:sldId id="365" r:id="rId7"/>
    <p:sldId id="367" r:id="rId8"/>
    <p:sldId id="337" r:id="rId9"/>
    <p:sldId id="366" r:id="rId10"/>
    <p:sldId id="368" r:id="rId11"/>
    <p:sldId id="318" r:id="rId12"/>
    <p:sldId id="319" r:id="rId13"/>
    <p:sldId id="320" r:id="rId14"/>
    <p:sldId id="326" r:id="rId15"/>
    <p:sldId id="363" r:id="rId16"/>
    <p:sldId id="300" r:id="rId17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 yusufov" initials="Ry" lastIdx="22" clrIdx="0"/>
  <p:cmAuthor id="1" name="sanford@visionwisecapital.com" initials="s" lastIdx="13" clrIdx="1">
    <p:extLst>
      <p:ext uri="{19B8F6BF-5375-455C-9EA6-DF929625EA0E}">
        <p15:presenceInfo xmlns:p15="http://schemas.microsoft.com/office/powerpoint/2012/main" userId="sanford@visionwisecapital.com" providerId="None"/>
      </p:ext>
    </p:extLst>
  </p:cmAuthor>
  <p:cmAuthor id="2" name="OCPL Patron" initials="OP" lastIdx="6" clrIdx="2">
    <p:extLst>
      <p:ext uri="{19B8F6BF-5375-455C-9EA6-DF929625EA0E}">
        <p15:presenceInfo xmlns:p15="http://schemas.microsoft.com/office/powerpoint/2012/main" userId="OCPL Patr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4660"/>
  </p:normalViewPr>
  <p:slideViewPr>
    <p:cSldViewPr>
      <p:cViewPr varScale="1">
        <p:scale>
          <a:sx n="82" d="100"/>
          <a:sy n="82" d="100"/>
        </p:scale>
        <p:origin x="181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02DD2FC3-E7D7-4838-A999-76F388C1763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4742105-DE3C-43FF-B317-0BA3A00B52C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5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703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174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95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64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3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9077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742105-DE3C-43FF-B317-0BA3A00B52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33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3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07D8-514B-4764-BFFB-677F81830853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1392-F862-44F4-A459-FADA786ADC5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7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7" y="3852864"/>
            <a:ext cx="6135687" cy="16335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54BE-CCDA-4CEF-96B9-BD1A152AE1A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00BB-6A70-443C-9531-4AC32327AC3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3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3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3F5-D370-4F78-BC30-B6C86A37E9E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DE39-EF27-4F69-AE0E-D0124E60EFEE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D8A4-C1A3-4403-9D2B-0A6C63DDE54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A0BAC-924D-414E-A5E7-A7D76A66F2B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7"/>
            <a:ext cx="7772400" cy="594627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542-34FB-419D-ADF8-62278E24ADD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AD6E-24B2-4395-9C6E-EF74E0ECE30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6FA-740D-469C-A772-304966196CB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9797E504-841F-4DBA-9F0E-7FA667CEC9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4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Confidential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5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0470C3B-87FE-452A-A84F-11F78833C29F}" type="datetime1">
              <a:rPr lang="en-US" smtClean="0"/>
              <a:t>4/23/2026</a:t>
            </a:fld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865159333"/>
              </p:ext>
            </p:extLst>
          </p:nvPr>
        </p:nvGraphicFramePr>
        <p:xfrm>
          <a:off x="3671889" y="2228851"/>
          <a:ext cx="18002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3" imgW="1800360" imgH="1800360" progId="Paint.Picture">
                  <p:embed/>
                </p:oleObj>
              </mc:Choice>
              <mc:Fallback>
                <p:oleObj name="Bitmap Image" r:id="rId13" imgW="1800360" imgH="1800360" progId="Paint.Picture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71889" y="2228851"/>
                        <a:ext cx="1800225" cy="24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anford@visionwisecapita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97176"/>
            <a:ext cx="6546533" cy="762000"/>
          </a:xfrm>
        </p:spPr>
        <p:txBody>
          <a:bodyPr/>
          <a:lstStyle/>
          <a:p>
            <a:pPr algn="ctr"/>
            <a:br>
              <a:rPr lang="en-US" sz="2100" b="1" i="1" dirty="0"/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CONSERVATIVE REAL ESTATE STRATEGY</a:t>
            </a:r>
            <a:br>
              <a:rPr lang="en-US" sz="2100" dirty="0"/>
            </a:br>
            <a:endParaRPr lang="en-US" sz="21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>
                <a:latin typeface="Calibri"/>
              </a:rPr>
              <a:pPr/>
              <a:t>1</a:t>
            </a:fld>
            <a:endParaRPr lang="en-US" dirty="0"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C2361-EE21-4EE8-9868-E6DC95D9F8FF}"/>
              </a:ext>
            </a:extLst>
          </p:cNvPr>
          <p:cNvSpPr txBox="1"/>
          <p:nvPr/>
        </p:nvSpPr>
        <p:spPr>
          <a:xfrm>
            <a:off x="2209800" y="5522002"/>
            <a:ext cx="44162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Units - 16941 Hoskins Lane, Huntington Beach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11489F-CE75-4DEB-88FC-F0CC53D1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06836"/>
            <a:ext cx="4706219" cy="12233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2E8AFC-2407-4DAF-9F73-FF040AF01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128890"/>
            <a:ext cx="5108010" cy="32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566" y="417689"/>
            <a:ext cx="7661564" cy="1156445"/>
          </a:xfrm>
        </p:spPr>
        <p:txBody>
          <a:bodyPr/>
          <a:lstStyle/>
          <a:p>
            <a:pPr algn="l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CAPITAL DEPLOYMENT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9797E504-841F-4DBA-9F0E-7FA667CEC9E8}" type="slidenum">
              <a:rPr lang="en-US" sz="750">
                <a:latin typeface="Calibri"/>
              </a:rPr>
              <a:pPr defTabSz="685800">
                <a:defRPr/>
              </a:pPr>
              <a:t>2</a:t>
            </a:fld>
            <a:endParaRPr lang="en-US" sz="750" dirty="0"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F0F35F-7095-48DE-B53B-93D4E1869F5E}"/>
              </a:ext>
            </a:extLst>
          </p:cNvPr>
          <p:cNvSpPr txBox="1">
            <a:spLocks/>
          </p:cNvSpPr>
          <p:nvPr/>
        </p:nvSpPr>
        <p:spPr>
          <a:xfrm>
            <a:off x="498762" y="1574134"/>
            <a:ext cx="9331038" cy="419273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A59B1F-A38A-4D12-9633-35589E30A796}"/>
              </a:ext>
            </a:extLst>
          </p:cNvPr>
          <p:cNvSpPr/>
          <p:nvPr/>
        </p:nvSpPr>
        <p:spPr>
          <a:xfrm>
            <a:off x="443344" y="1352743"/>
            <a:ext cx="7772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VWC currently has an available equity base of $12MM and purposes to develop a programmatic LP relationship with one, and as many as four co-invest partners.</a:t>
            </a:r>
          </a:p>
          <a:p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equity will be coupled with bridge and permanent debt capital, bringing an aggregate buying power to over $240,000,000, assuming a 55% LTC and $20,000,000 allocated to Capital Expenditures (the aggregate cost of renovation).</a:t>
            </a:r>
          </a:p>
          <a:p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VWC has applied a fix-and-flip model with apartment assets for the past seven years, averaging a project-level return of over 20% per year.  We now have a remaining portfolio of five apartment assets in Orange County and a perimeter city; 41 multifamily units.  We anticipate purchasing 100 additional units in the calendar year 2020.  Thereafter, VWC purposes to selectively acquire 250 additional units per year in 2021-23, for a total multifamily portfolio of 891 units, or a post-renovation market cap of over $330MM with an average price per unit of $370,000.</a:t>
            </a:r>
          </a:p>
          <a:p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expected that the average deal size will include an occasional “super-sized” asset.  This deal size, up to and including 75 units, will drive a mean deal size of  approximately 32 units, at 8 acquisitions per year for three years, or 24 properties.</a:t>
            </a:r>
          </a:p>
        </p:txBody>
      </p:sp>
    </p:spTree>
    <p:extLst>
      <p:ext uri="{BB962C8B-B14F-4D97-AF65-F5344CB8AC3E}">
        <p14:creationId xmlns:p14="http://schemas.microsoft.com/office/powerpoint/2010/main" val="49646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62" y="417689"/>
            <a:ext cx="7661564" cy="1156445"/>
          </a:xfrm>
        </p:spPr>
        <p:txBody>
          <a:bodyPr/>
          <a:lstStyle/>
          <a:p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THE STRATEGY – SCALABLE, DEFENDABLE, SUSTAINABLE &amp; PROFITABLE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9797E504-841F-4DBA-9F0E-7FA667CEC9E8}" type="slidenum">
              <a:rPr lang="en-US" sz="750">
                <a:latin typeface="Calibri"/>
              </a:rPr>
              <a:pPr defTabSz="685800">
                <a:defRPr/>
              </a:pPr>
              <a:t>3</a:t>
            </a:fld>
            <a:endParaRPr lang="en-US" sz="750" dirty="0"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F0F35F-7095-48DE-B53B-93D4E1869F5E}"/>
              </a:ext>
            </a:extLst>
          </p:cNvPr>
          <p:cNvSpPr txBox="1">
            <a:spLocks/>
          </p:cNvSpPr>
          <p:nvPr/>
        </p:nvSpPr>
        <p:spPr>
          <a:xfrm>
            <a:off x="498762" y="1574134"/>
            <a:ext cx="9331038" cy="419273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8188C1-A2EE-4226-AEDE-AF73E80A6269}"/>
              </a:ext>
            </a:extLst>
          </p:cNvPr>
          <p:cNvSpPr txBox="1">
            <a:spLocks/>
          </p:cNvSpPr>
          <p:nvPr/>
        </p:nvSpPr>
        <p:spPr>
          <a:xfrm>
            <a:off x="152400" y="1295800"/>
            <a:ext cx="7730837" cy="38763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sz="1350" dirty="0"/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lvl="3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Repeatable Renovation Strategy	We use specific measurements through an EOS 				System to ensure measurable efficiencies in 					every operating area of execution; acquisition, 				renovation, management, and the recapitalizing 				processes.  A clearly articulated renovation 					process is critical to accurately measuring on-				the-ground activity  </a:t>
            </a:r>
          </a:p>
          <a:p>
            <a:pPr marL="214313" lvl="3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Fragmented Broker Community	The brokers for sub-institutional multifamily 					properties are primarily residential agents who 				value being taught the business from an 					experienced Operator.  85% of all 					transactions in this targeted apartment niche are 				through the residential brokerage community.</a:t>
            </a:r>
          </a:p>
          <a:p>
            <a:pPr marL="214313" lvl="3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Third-Party Onsite Property Mgt.	Companies that have been vetted and 					approved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135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89DF1D1-4384-427D-8C89-9700413A8C4E}"/>
              </a:ext>
            </a:extLst>
          </p:cNvPr>
          <p:cNvSpPr txBox="1">
            <a:spLocks/>
          </p:cNvSpPr>
          <p:nvPr/>
        </p:nvSpPr>
        <p:spPr>
          <a:xfrm>
            <a:off x="526984" y="1459349"/>
            <a:ext cx="7661564" cy="720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I. SCALABLE</a:t>
            </a:r>
          </a:p>
        </p:txBody>
      </p:sp>
    </p:spTree>
    <p:extLst>
      <p:ext uri="{BB962C8B-B14F-4D97-AF65-F5344CB8AC3E}">
        <p14:creationId xmlns:p14="http://schemas.microsoft.com/office/powerpoint/2010/main" val="408346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72" y="331998"/>
            <a:ext cx="7661564" cy="1156445"/>
          </a:xfrm>
        </p:spPr>
        <p:txBody>
          <a:bodyPr/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Orange County has over 4,400 sub-Institutional apartment properties and 59,000 units.  Inventory is large in quantity and competition is sub-institutional.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9797E504-841F-4DBA-9F0E-7FA667CEC9E8}" type="slidenum">
              <a:rPr lang="en-US" sz="750">
                <a:latin typeface="Calibri"/>
              </a:rPr>
              <a:pPr defTabSz="685800">
                <a:defRPr/>
              </a:pPr>
              <a:t>4</a:t>
            </a:fld>
            <a:endParaRPr lang="en-US" sz="750" dirty="0"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F0F35F-7095-48DE-B53B-93D4E1869F5E}"/>
              </a:ext>
            </a:extLst>
          </p:cNvPr>
          <p:cNvSpPr txBox="1">
            <a:spLocks/>
          </p:cNvSpPr>
          <p:nvPr/>
        </p:nvSpPr>
        <p:spPr>
          <a:xfrm>
            <a:off x="498762" y="1574134"/>
            <a:ext cx="9331038" cy="419273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CEF1D-2E88-4DD1-9F78-2FA0F0EB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9" y="2235942"/>
            <a:ext cx="8382000" cy="768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E5AD76-2B2E-47E6-AA0F-DACE96A0DE86}"/>
              </a:ext>
            </a:extLst>
          </p:cNvPr>
          <p:cNvSpPr txBox="1"/>
          <p:nvPr/>
        </p:nvSpPr>
        <p:spPr>
          <a:xfrm>
            <a:off x="2590800" y="1735761"/>
            <a:ext cx="3387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5-15 Units, Orange County, 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4621F-11C9-436A-9C4F-CA9C32B59C05}"/>
              </a:ext>
            </a:extLst>
          </p:cNvPr>
          <p:cNvSpPr txBox="1"/>
          <p:nvPr/>
        </p:nvSpPr>
        <p:spPr>
          <a:xfrm>
            <a:off x="2649681" y="3278170"/>
            <a:ext cx="3328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16-50 Units, Orange County, CA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456248-34E7-446D-8FC0-7E3C46934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0" y="3616724"/>
            <a:ext cx="8369030" cy="10124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74B491-5B8B-445E-BF56-5DEBD8D538FD}"/>
              </a:ext>
            </a:extLst>
          </p:cNvPr>
          <p:cNvSpPr txBox="1"/>
          <p:nvPr/>
        </p:nvSpPr>
        <p:spPr>
          <a:xfrm>
            <a:off x="2760518" y="4798485"/>
            <a:ext cx="3217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51-75 Units, Orange County, CA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106DF2-6FC9-46C7-98BC-CCA4E22C7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67259"/>
            <a:ext cx="8409709" cy="109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1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27" y="838200"/>
            <a:ext cx="7661564" cy="1156445"/>
          </a:xfrm>
        </p:spPr>
        <p:txBody>
          <a:bodyPr/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Apartments continue to be viewed as the most conservative investment real estate product-type measured by the lower overall cap rates.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>
                <a:latin typeface="Calibri"/>
              </a:rPr>
              <a:pPr/>
              <a:t>5</a:t>
            </a:fld>
            <a:endParaRPr lang="en-US" dirty="0"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B1D99E-80FE-4A1B-BAC0-78F7DCD1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36" y="2362200"/>
            <a:ext cx="6234545" cy="33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62" y="417689"/>
            <a:ext cx="7661564" cy="1156445"/>
          </a:xfrm>
        </p:spPr>
        <p:txBody>
          <a:bodyPr/>
          <a:lstStyle/>
          <a:p>
            <a:pPr algn="l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II. DEFENDABLE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9797E504-841F-4DBA-9F0E-7FA667CEC9E8}" type="slidenum">
              <a:rPr lang="en-US" sz="750">
                <a:latin typeface="Calibri"/>
              </a:rPr>
              <a:pPr defTabSz="685800">
                <a:defRPr/>
              </a:pPr>
              <a:t>6</a:t>
            </a:fld>
            <a:endParaRPr lang="en-US" sz="750" dirty="0"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F0F35F-7095-48DE-B53B-93D4E1869F5E}"/>
              </a:ext>
            </a:extLst>
          </p:cNvPr>
          <p:cNvSpPr txBox="1">
            <a:spLocks/>
          </p:cNvSpPr>
          <p:nvPr/>
        </p:nvSpPr>
        <p:spPr>
          <a:xfrm>
            <a:off x="498762" y="1524000"/>
            <a:ext cx="9331038" cy="419273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/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123B5B3-F856-4709-AC24-303DDEE63947}"/>
              </a:ext>
            </a:extLst>
          </p:cNvPr>
          <p:cNvSpPr txBox="1">
            <a:spLocks/>
          </p:cNvSpPr>
          <p:nvPr/>
        </p:nvSpPr>
        <p:spPr>
          <a:xfrm>
            <a:off x="609600" y="1548734"/>
            <a:ext cx="7730837" cy="3205704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Institutions are not interested 	Large real estate equity firms cannot gear-up to 				work on such small (by comparison) deals.  This 				special niche is filled with Mom and Pop 					Buyers and Sellers, giving VWC a material 					advantage in a small and targeted niche</a:t>
            </a:r>
          </a:p>
          <a:p>
            <a:pPr marL="0" lvl="3"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Brokers are less sophisticated 	15% of all transactions are executed by five 					regional brokerage firms.  The remaining 					transactions have been one-and-done agents</a:t>
            </a:r>
          </a:p>
          <a:p>
            <a:pPr marL="214313" lvl="3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Internal Controls		Our extreme measurability would be easier to 				purchase than to duplicate</a:t>
            </a:r>
          </a:p>
          <a:p>
            <a:pPr marL="214313" lvl="3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557213" lvl="4" indent="-214313">
              <a:buFont typeface="Arial" panose="020B0604020202020204" pitchFamily="34" charset="0"/>
              <a:buChar char="•"/>
              <a:tabLst>
                <a:tab pos="172641" algn="l"/>
              </a:tabLst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 are big fish in a small pond	We are, arguably, one of the most active buyers 				and sellers in our space.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726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51" y="1295800"/>
            <a:ext cx="7661564" cy="1156445"/>
          </a:xfrm>
        </p:spPr>
        <p:txBody>
          <a:bodyPr/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tight labor market and the shortage of available housing is causing a commensurate rise in rents, confirming that the community of renters will continue to increase.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9797E504-841F-4DBA-9F0E-7FA667CEC9E8}" type="slidenum">
              <a:rPr lang="en-US" sz="750">
                <a:latin typeface="Calibri"/>
              </a:rPr>
              <a:pPr defTabSz="685800">
                <a:defRPr/>
              </a:pPr>
              <a:t>7</a:t>
            </a:fld>
            <a:endParaRPr lang="en-US" sz="750" dirty="0"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F0F35F-7095-48DE-B53B-93D4E1869F5E}"/>
              </a:ext>
            </a:extLst>
          </p:cNvPr>
          <p:cNvSpPr txBox="1">
            <a:spLocks/>
          </p:cNvSpPr>
          <p:nvPr/>
        </p:nvSpPr>
        <p:spPr>
          <a:xfrm>
            <a:off x="498762" y="1574134"/>
            <a:ext cx="9331038" cy="419273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/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02A918-E03D-420F-AB4A-8E1F126F0825}"/>
              </a:ext>
            </a:extLst>
          </p:cNvPr>
          <p:cNvSpPr txBox="1">
            <a:spLocks/>
          </p:cNvSpPr>
          <p:nvPr/>
        </p:nvSpPr>
        <p:spPr>
          <a:xfrm>
            <a:off x="535451" y="2057092"/>
            <a:ext cx="7730837" cy="41049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sz="1350" dirty="0"/>
          </a:p>
          <a:p>
            <a:endParaRPr lang="en-US" sz="1350" dirty="0"/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Plenty of Inventory		There are 4,449 multifamily properties in Orange County 				between 5 and 75 units; a total of over 59,000 units of 				apartments</a:t>
            </a:r>
          </a:p>
          <a:p>
            <a:pPr marL="1171575" lvl="2" indent="-257175">
              <a:buFont typeface="Wingdings" panose="05000000000000000000" pitchFamily="2" charset="2"/>
              <a:buChar char="§"/>
            </a:pPr>
            <a:r>
              <a:rPr lang="en-US" sz="1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 additional 201 Multifamily properties in sizes from 51 units to 75 units add  another 13,000 apartment units.</a:t>
            </a:r>
          </a:p>
          <a:p>
            <a:pPr marL="1628775" lvl="3" indent="-257175">
              <a:buFont typeface="Wingdings" panose="05000000000000000000" pitchFamily="2" charset="2"/>
              <a:buChar char="§"/>
            </a:pPr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lvl="6"/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Our 3-year objective is to own 891 units with a market cap of over $300 MM.</a:t>
            </a:r>
          </a:p>
          <a:p>
            <a:pPr lvl="8"/>
            <a:endParaRPr lang="en-US" sz="1600" spc="-75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214313" lvl="8" indent="-214313">
              <a:buFont typeface="Wingdings" panose="05000000000000000000" pitchFamily="2" charset="2"/>
              <a:buChar char="§"/>
            </a:pP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Sandwich Generation	An increasing number of both, Baby Boomers and 				Millennials are choosing to rent vs own.  The gap in housing 			costs between owning and renting a 2 </a:t>
            </a:r>
            <a:r>
              <a:rPr lang="en-US" sz="1600" spc="-75" dirty="0" err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bdrm</a:t>
            </a:r>
            <a:r>
              <a:rPr lang="en-US" sz="1600" spc="-75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apartment is 			over $2,200 per month in Orange County*.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75E591-A7D2-432C-A79F-700FA10E04E2}"/>
              </a:ext>
            </a:extLst>
          </p:cNvPr>
          <p:cNvSpPr txBox="1">
            <a:spLocks/>
          </p:cNvSpPr>
          <p:nvPr/>
        </p:nvSpPr>
        <p:spPr>
          <a:xfrm>
            <a:off x="535451" y="389467"/>
            <a:ext cx="7661564" cy="1156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III. SUSTAINABLE</a:t>
            </a:r>
          </a:p>
        </p:txBody>
      </p:sp>
    </p:spTree>
    <p:extLst>
      <p:ext uri="{BB962C8B-B14F-4D97-AF65-F5344CB8AC3E}">
        <p14:creationId xmlns:p14="http://schemas.microsoft.com/office/powerpoint/2010/main" val="418507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83" y="1447800"/>
            <a:ext cx="4343356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9265"/>
              </p:ext>
            </p:extLst>
          </p:nvPr>
        </p:nvGraphicFramePr>
        <p:xfrm>
          <a:off x="179852" y="3901440"/>
          <a:ext cx="3629025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SUMMARY</a:t>
                      </a: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Built: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1977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Acq.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2016 / $1,150,000 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 2017 /</a:t>
                      </a: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$1,450,000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 Period: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 months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Rent Increase: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21.35%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Investor ROI: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1.3x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274639"/>
            <a:ext cx="7848600" cy="1143000"/>
          </a:xfrm>
        </p:spPr>
        <p:txBody>
          <a:bodyPr/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501 ENCINITAS WAY - PLACENTIA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58418"/>
              </p:ext>
            </p:extLst>
          </p:nvPr>
        </p:nvGraphicFramePr>
        <p:xfrm>
          <a:off x="179853" y="1409172"/>
          <a:ext cx="3629025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SUMMARY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endParaRPr lang="en-US" sz="1100" b="1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62800" y="3657600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BEFORE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0" y="6367046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AFTER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FC417-2C2F-475F-983D-358ADBAE2F50}"/>
              </a:ext>
            </a:extLst>
          </p:cNvPr>
          <p:cNvSpPr txBox="1"/>
          <p:nvPr/>
        </p:nvSpPr>
        <p:spPr>
          <a:xfrm>
            <a:off x="191142" y="1624672"/>
            <a:ext cx="3505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opportunity to invest in a 4-unit multifamily townhome located in a residential area of Central Orange County whereby existing leases were 22% below the local market. The business strategy was to complete a significant unit by unit renovation and create a positive cash flow in Year 1.</a:t>
            </a:r>
          </a:p>
          <a:p>
            <a:endParaRPr 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note of interest, two of the existing tenants retained their residency at the property at the “new” market rental rate.</a:t>
            </a:r>
          </a:p>
        </p:txBody>
      </p:sp>
    </p:spTree>
    <p:extLst>
      <p:ext uri="{BB962C8B-B14F-4D97-AF65-F5344CB8AC3E}">
        <p14:creationId xmlns:p14="http://schemas.microsoft.com/office/powerpoint/2010/main" val="356647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508046"/>
            <a:ext cx="4303220" cy="5197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445665"/>
              </p:ext>
            </p:extLst>
          </p:nvPr>
        </p:nvGraphicFramePr>
        <p:xfrm>
          <a:off x="158044" y="3962081"/>
          <a:ext cx="3629025" cy="2621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SUMMARY</a:t>
                      </a: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Built: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1987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Acq.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 2017</a:t>
                      </a: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$2,000,000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 2018 / $2,850,000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 Period: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months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Rent Increase: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48.50%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Investor ROI: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1.3x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274639"/>
            <a:ext cx="7848600" cy="1143000"/>
          </a:xfrm>
        </p:spPr>
        <p:txBody>
          <a:bodyPr/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16941 HOSKINS LANE – HUNTINGTON BEACH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1202"/>
              </p:ext>
            </p:extLst>
          </p:nvPr>
        </p:nvGraphicFramePr>
        <p:xfrm>
          <a:off x="152400" y="1473850"/>
          <a:ext cx="3629025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SUMMARY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endParaRPr lang="en-US" sz="1100" b="1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62800" y="3700046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BEFORE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0" y="6367046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AFTER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36861-43BD-4B36-A523-A3A845508693}"/>
              </a:ext>
            </a:extLst>
          </p:cNvPr>
          <p:cNvSpPr txBox="1"/>
          <p:nvPr/>
        </p:nvSpPr>
        <p:spPr>
          <a:xfrm>
            <a:off x="214312" y="1771030"/>
            <a:ext cx="350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5-unit property built in 1974 located in a highly desirable coastal community offering a “beachside lifestyle” with dated interiors and below market rents. </a:t>
            </a:r>
          </a:p>
          <a:p>
            <a:endParaRPr 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improvements of approximately $190,000 saw an average increase of 48.54% or $735 in average rental rate increase/unit/month.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07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271" y="1539507"/>
            <a:ext cx="4381953" cy="516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36219"/>
              </p:ext>
            </p:extLst>
          </p:nvPr>
        </p:nvGraphicFramePr>
        <p:xfrm>
          <a:off x="182865" y="3866557"/>
          <a:ext cx="3629025" cy="298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SUMMARY</a:t>
                      </a: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Built: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1965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Acq.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October</a:t>
                      </a: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$3,250,000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November 2018 / $4,325,000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 Period: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 months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Rent Increase: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24.97%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Investor ROI: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1.2x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274639"/>
            <a:ext cx="7848600" cy="1143000"/>
          </a:xfrm>
        </p:spPr>
        <p:txBody>
          <a:bodyPr/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2630 WEST PORTER AVE - FULLERTON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487614"/>
              </p:ext>
            </p:extLst>
          </p:nvPr>
        </p:nvGraphicFramePr>
        <p:xfrm>
          <a:off x="159582" y="1405258"/>
          <a:ext cx="3629025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SUMMARY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endParaRPr lang="en-US" sz="1100" b="1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62800" y="3700046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BEFORE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0" y="6367046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AFTER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CD2A15-DEFF-4CB7-B196-266715686259}"/>
              </a:ext>
            </a:extLst>
          </p:cNvPr>
          <p:cNvSpPr txBox="1"/>
          <p:nvPr/>
        </p:nvSpPr>
        <p:spPr>
          <a:xfrm>
            <a:off x="172805" y="1702438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11-unit property built in 1965 located in Fullerton, a city experiencing major activity in residential, retail and mixed use space redevelopment, with top rated schools and easy access to employment centers, shopping and entertainment.</a:t>
            </a:r>
          </a:p>
          <a:p>
            <a:endParaRPr 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property met our criteria of a value-add opportunity with market rent upside potential. At the time of sale, the per unit price of $393,181 set a new record for the local market.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205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41138"/>
              </p:ext>
            </p:extLst>
          </p:nvPr>
        </p:nvGraphicFramePr>
        <p:xfrm>
          <a:off x="180798" y="3798828"/>
          <a:ext cx="3629025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SUMMARY</a:t>
                      </a: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Built: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Acq.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 2018 / $3,490,000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Date / Price: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December 2019 / $4,592,400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 Period: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 months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Rent Increase: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39.94%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Investor ROI: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1.42x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274639"/>
            <a:ext cx="7848600" cy="1143000"/>
          </a:xfrm>
        </p:spPr>
        <p:txBody>
          <a:bodyPr/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14523 &amp; 14527 S Budlong Ave. - GARDENA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43305"/>
              </p:ext>
            </p:extLst>
          </p:nvPr>
        </p:nvGraphicFramePr>
        <p:xfrm>
          <a:off x="228600" y="1379653"/>
          <a:ext cx="362902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</a:t>
                      </a:r>
                      <a:r>
                        <a:rPr lang="en-US" sz="1200" b="1" baseline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SUMMARY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endParaRPr lang="en-US" sz="1200" b="1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chemeClr val="tx1"/>
                        </a:solidFill>
                      </a:endParaRP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CD2A15-DEFF-4CB7-B196-266715686259}"/>
              </a:ext>
            </a:extLst>
          </p:cNvPr>
          <p:cNvSpPr txBox="1"/>
          <p:nvPr/>
        </p:nvSpPr>
        <p:spPr>
          <a:xfrm>
            <a:off x="242710" y="1656231"/>
            <a:ext cx="3505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12-unit property built in 1989 located in Gardena, an active and progressive community with family-oriented neighborhoods attractive for all residents.  Gardena is an ideal centralized location with access to all major freeways and LAX.</a:t>
            </a:r>
          </a:p>
          <a:p>
            <a:endParaRPr 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property met our criteria of a value-add opportunity with market rent upside potential in excess of 26% at the time of acquisition.</a:t>
            </a:r>
          </a:p>
          <a:p>
            <a:endParaRPr lang="en-US" sz="1200" dirty="0"/>
          </a:p>
        </p:txBody>
      </p:sp>
      <p:pic>
        <p:nvPicPr>
          <p:cNvPr id="5" name="Picture 4" descr="A house that has a sign on the side of a building&#10;&#10;Description automatically generated">
            <a:extLst>
              <a:ext uri="{FF2B5EF4-FFF2-40B4-BE49-F238E27FC236}">
                <a16:creationId xmlns:a16="http://schemas.microsoft.com/office/drawing/2014/main" id="{3DDE74A3-2F35-4F2C-9FF1-1DEB6381A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1379653"/>
            <a:ext cx="4066628" cy="2464339"/>
          </a:xfrm>
          <a:prstGeom prst="rect">
            <a:avLst/>
          </a:prstGeom>
        </p:spPr>
      </p:pic>
      <p:pic>
        <p:nvPicPr>
          <p:cNvPr id="15" name="Picture 14" descr="A house with a fence in front of a building&#10;&#10;Description automatically generated">
            <a:extLst>
              <a:ext uri="{FF2B5EF4-FFF2-40B4-BE49-F238E27FC236}">
                <a16:creationId xmlns:a16="http://schemas.microsoft.com/office/drawing/2014/main" id="{1C108FB3-CE31-4C73-ADB3-E3A0444DEA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4027183"/>
            <a:ext cx="4134427" cy="2667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13029" y="6350113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AFTER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62229" y="3508260"/>
            <a:ext cx="12954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BEFORE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7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F435F72-66DA-49D3-8631-FE577EE6E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62" y="2895600"/>
            <a:ext cx="3028950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397BDA-0C3F-4655-920D-DEB8B07BE37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6" y="762000"/>
            <a:ext cx="1434465" cy="235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1B27FD-0030-4F32-A3C3-0EE022252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4343400"/>
            <a:ext cx="2200275" cy="8667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6ED42E-980E-4800-AB0A-D817A8612EFC}"/>
              </a:ext>
            </a:extLst>
          </p:cNvPr>
          <p:cNvSpPr txBox="1"/>
          <p:nvPr/>
        </p:nvSpPr>
        <p:spPr>
          <a:xfrm>
            <a:off x="552896" y="1794302"/>
            <a:ext cx="33666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spc="-10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PROFESSIONAL SERVICES:</a:t>
            </a:r>
          </a:p>
        </p:txBody>
      </p:sp>
    </p:spTree>
    <p:extLst>
      <p:ext uri="{BB962C8B-B14F-4D97-AF65-F5344CB8AC3E}">
        <p14:creationId xmlns:p14="http://schemas.microsoft.com/office/powerpoint/2010/main" val="260324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7E504-841F-4DBA-9F0E-7FA667CEC9E8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4400" y="2514600"/>
            <a:ext cx="6629400" cy="203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Sanford D. Coggins </a:t>
            </a:r>
          </a:p>
          <a:p>
            <a:pPr marL="11430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sanford@visionwisecapital.com</a:t>
            </a: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Address: </a:t>
            </a:r>
          </a:p>
          <a:p>
            <a:pPr marL="11430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27525 Puerta Real, Suite 100-164</a:t>
            </a:r>
          </a:p>
          <a:p>
            <a:pPr marL="11430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 Viejo, CA 92691 </a:t>
            </a:r>
          </a:p>
          <a:p>
            <a:pPr marL="11430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Phone: (949) 441-5580</a:t>
            </a:r>
          </a:p>
          <a:p>
            <a:pPr marL="11430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Fax: (949) 441-5586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BC9E5-959B-4F08-9398-38A7CADD8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06836"/>
            <a:ext cx="4706219" cy="12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23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89253CCF104248A8531C656E2CE745" ma:contentTypeVersion="13" ma:contentTypeDescription="Create a new document." ma:contentTypeScope="" ma:versionID="535aceeb68d12ec75e499653a6e71b06">
  <xsd:schema xmlns:xsd="http://www.w3.org/2001/XMLSchema" xmlns:xs="http://www.w3.org/2001/XMLSchema" xmlns:p="http://schemas.microsoft.com/office/2006/metadata/properties" xmlns:ns3="4f5e0139-7b80-4334-bf3d-a95aa0325af0" xmlns:ns4="927e3b01-4717-4793-9114-47af73a4694f" targetNamespace="http://schemas.microsoft.com/office/2006/metadata/properties" ma:root="true" ma:fieldsID="855bae71424c5d3f374237a7ae5fbdf7" ns3:_="" ns4:_="">
    <xsd:import namespace="4f5e0139-7b80-4334-bf3d-a95aa0325af0"/>
    <xsd:import namespace="927e3b01-4717-4793-9114-47af73a469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e0139-7b80-4334-bf3d-a95aa0325a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7e3b01-4717-4793-9114-47af73a4694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37D4C5-352E-42A1-84CC-8A41CB1A2A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5e0139-7b80-4334-bf3d-a95aa0325af0"/>
    <ds:schemaRef ds:uri="927e3b01-4717-4793-9114-47af73a469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106AD7-3A79-4D3E-A431-277777F515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A44624-7853-49DC-B6E9-118854082234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927e3b01-4717-4793-9114-47af73a4694f"/>
    <ds:schemaRef ds:uri="http://schemas.microsoft.com/office/infopath/2007/PartnerControls"/>
    <ds:schemaRef ds:uri="4f5e0139-7b80-4334-bf3d-a95aa0325af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10672</TotalTime>
  <Words>1341</Words>
  <Application>Microsoft Office PowerPoint</Application>
  <PresentationFormat>On-screen Show (4:3)</PresentationFormat>
  <Paragraphs>168</Paragraphs>
  <Slides>13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Wingdings</vt:lpstr>
      <vt:lpstr>Adjacency</vt:lpstr>
      <vt:lpstr>Bitmap Image</vt:lpstr>
      <vt:lpstr> A CONSERVATIVE REAL ESTATE STRATEGY </vt:lpstr>
      <vt:lpstr>CAPITAL DEPLOYMENT</vt:lpstr>
      <vt:lpstr>THE STRATEGY – SCALABLE, DEFENDABLE, SUSTAINABLE &amp; PROFITABLE</vt:lpstr>
      <vt:lpstr>Orange County has over 4,400 sub-Institutional apartment properties and 59,000 units.  Inventory is large in quantity and competition is sub-institutional.</vt:lpstr>
      <vt:lpstr>Apartments continue to be viewed as the most conservative investment real estate product-type measured by the lower overall cap rates.</vt:lpstr>
      <vt:lpstr>II. DEFENDABLE</vt:lpstr>
      <vt:lpstr>A tight labor market and the shortage of available housing is causing a commensurate rise in rents, confirming that the community of renters will continue to increase.</vt:lpstr>
      <vt:lpstr>501 ENCINITAS WAY - PLACENTIA</vt:lpstr>
      <vt:lpstr>16941 HOSKINS LANE – HUNTINGTON BEACH</vt:lpstr>
      <vt:lpstr>2630 WEST PORTER AVE - FULLERTON</vt:lpstr>
      <vt:lpstr>14523 &amp; 14527 S Budlong Ave. - GARDENA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Renat yusufov</dc:creator>
  <cp:lastModifiedBy>Julie@visionwisecapital.com</cp:lastModifiedBy>
  <cp:revision>233</cp:revision>
  <cp:lastPrinted>2020-01-22T20:26:37Z</cp:lastPrinted>
  <dcterms:created xsi:type="dcterms:W3CDTF">2019-01-03T22:03:49Z</dcterms:created>
  <dcterms:modified xsi:type="dcterms:W3CDTF">2026-04-23T23:52:55Z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0x010100D689253CCF104248A8531C656E2CE745</vt:lpwstr>
  </property>
</Properties>
</file>